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799B5A1-0CCF-4E33-82ED-72283898ED6F}">
          <p14:sldIdLst>
            <p14:sldId id="256"/>
            <p14:sldId id="257"/>
            <p14:sldId id="258"/>
          </p14:sldIdLst>
        </p14:section>
        <p14:section name="01 CS 기초" id="{A04076C0-7986-46A0-870C-C6A9102728A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Python 환경" id="{FB7CA620-BB92-414B-B0F6-292D6FA5A5CA}">
          <p14:sldIdLst>
            <p14:sldId id="269"/>
            <p14:sldId id="270"/>
            <p14:sldId id="271"/>
          </p14:sldIdLst>
        </p14:section>
        <p14:section name="03 Python 문법" id="{351C1900-ECD0-4318-A39B-13F02DF97564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04 언어 비교" id="{F01C5A34-3B5C-41EF-A35F-F17918C0B388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디버깅" id="{E32EE0AE-EA09-45EB-B674-ECFB9618A8ED}">
          <p14:sldIdLst>
            <p14:sldId id="292"/>
            <p14:sldId id="293"/>
            <p14:sldId id="294"/>
            <p14:sldId id="295"/>
          </p14:sldIdLst>
        </p14:section>
        <p14:section name="실습" id="{383D2286-AB65-4B2E-B6EF-B4E08075B8B3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마무리" id="{5ABCBE4A-421F-4959-B6AD-7758CB420478}">
          <p14:sldIdLst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46732-2030-4B91-ABC5-D577CF545736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3C875-EB53-4559-8DB0-F48A55AF4A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913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대학원생 대상</a:t>
            </a:r>
            <a:r>
              <a:rPr lang="en-US" altLang="ko-KR"/>
              <a:t>. </a:t>
            </a:r>
            <a:r>
              <a:rPr lang="ko-KR" altLang="en-US"/>
              <a:t>세 언어 비교로 시작을 연다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658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버튼 클릭 시 정답 그룹 페이드 인</a:t>
            </a:r>
            <a:r>
              <a:rPr lang="en-US" altLang="ko-KR"/>
              <a:t>(</a:t>
            </a:r>
            <a:r>
              <a:rPr lang="ko-KR" altLang="en-US"/>
              <a:t>트리거</a:t>
            </a:r>
            <a:r>
              <a:rPr lang="en-US" altLang="ko-KR"/>
              <a:t>). </a:t>
            </a:r>
            <a:r>
              <a:rPr lang="ko-KR" altLang="en-US"/>
              <a:t>리빌 전에는 답이 보이지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85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각 카드는 하이퍼링크</a:t>
            </a:r>
            <a:r>
              <a:rPr lang="en-US" altLang="ko-KR"/>
              <a:t>(</a:t>
            </a:r>
            <a:r>
              <a:rPr lang="ko-KR" altLang="en-US"/>
              <a:t>섹션 첫 장 점프</a:t>
            </a:r>
            <a:r>
              <a:rPr lang="en-US" altLang="ko-KR"/>
              <a:t>). </a:t>
            </a:r>
            <a:r>
              <a:rPr lang="ko-KR" altLang="en-US"/>
              <a:t>실습 </a:t>
            </a:r>
            <a:r>
              <a:rPr lang="en-US" altLang="ko-KR"/>
              <a:t>06 </a:t>
            </a:r>
            <a:r>
              <a:rPr lang="ko-KR" altLang="en-US"/>
              <a:t>웹 서버까지 포함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67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소스코드</a:t>
            </a:r>
            <a:r>
              <a:rPr lang="en-US" altLang="ko-KR"/>
              <a:t>·</a:t>
            </a:r>
            <a:r>
              <a:rPr lang="ko-KR" altLang="en-US"/>
              <a:t>기계어</a:t>
            </a:r>
            <a:r>
              <a:rPr lang="en-US" altLang="ko-KR"/>
              <a:t>·CPU </a:t>
            </a:r>
            <a:r>
              <a:rPr lang="ko-KR" altLang="en-US"/>
              <a:t>등 기본 용어를 요리 비유로 정리하는 장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'</a:t>
            </a:r>
            <a:r>
              <a:rPr lang="ko-KR" altLang="en-US"/>
              <a:t>번역</a:t>
            </a:r>
            <a:r>
              <a:rPr lang="en-US" altLang="ko-KR"/>
              <a:t>'</a:t>
            </a:r>
            <a:r>
              <a:rPr lang="ko-KR" altLang="en-US"/>
              <a:t>을 언제 하느냐가 언어를 가른다는 예고로 다음 장에 연결한다</a:t>
            </a:r>
            <a:r>
              <a:rPr lang="en-US" altLang="ko-KR"/>
              <a:t>. (</a:t>
            </a:r>
            <a:r>
              <a:rPr lang="ko-KR" altLang="en-US"/>
              <a:t>클릭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: </a:t>
            </a:r>
            <a:r>
              <a:rPr lang="ko-KR" altLang="en-US"/>
              <a:t>소스코드→기계어→</a:t>
            </a:r>
            <a:r>
              <a:rPr lang="en-US" altLang="ko-KR"/>
              <a:t>CPU </a:t>
            </a:r>
            <a:r>
              <a:rPr lang="ko-KR" altLang="en-US"/>
              <a:t>순서로 등장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0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시대엔 프롬프트→소스코드라는 번역 층이 하나 더 생겼을 뿐이며</a:t>
            </a:r>
            <a:r>
              <a:rPr lang="en-US" altLang="ko-KR"/>
              <a:t>, </a:t>
            </a:r>
            <a:r>
              <a:rPr lang="ko-KR" altLang="en-US"/>
              <a:t>중간층</a:t>
            </a:r>
            <a:r>
              <a:rPr lang="en-US" altLang="ko-KR"/>
              <a:t>(</a:t>
            </a:r>
            <a:r>
              <a:rPr lang="ko-KR" altLang="en-US"/>
              <a:t>소스코드</a:t>
            </a:r>
            <a:r>
              <a:rPr lang="en-US" altLang="ko-KR"/>
              <a:t>)</a:t>
            </a:r>
            <a:r>
              <a:rPr lang="ko-KR" altLang="en-US"/>
              <a:t>을 읽을 줄 아는 사람만 그 번역을 검증할 수 있다는 논지</a:t>
            </a:r>
            <a:r>
              <a:rPr lang="en-US" altLang="ko-KR"/>
              <a:t>. (</a:t>
            </a:r>
            <a:r>
              <a:rPr lang="ko-KR" altLang="en-US"/>
              <a:t>모프 도착 </a:t>
            </a:r>
            <a:r>
              <a:rPr lang="en-US" altLang="ko-KR"/>
              <a:t>— #4</a:t>
            </a:r>
            <a:r>
              <a:rPr lang="ko-KR" altLang="en-US"/>
              <a:t>의 흐름이 내려가며 프롬프트 층이 얹힘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373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번역 시점에 따라 컴파일</a:t>
            </a:r>
            <a:r>
              <a:rPr lang="en-US" altLang="ko-KR"/>
              <a:t>·</a:t>
            </a:r>
            <a:r>
              <a:rPr lang="ko-KR" altLang="en-US"/>
              <a:t>바이트코드</a:t>
            </a:r>
            <a:r>
              <a:rPr lang="en-US" altLang="ko-KR"/>
              <a:t>+VM·</a:t>
            </a:r>
            <a:r>
              <a:rPr lang="ko-KR" altLang="en-US"/>
              <a:t>인터프리터 </a:t>
            </a:r>
            <a:r>
              <a:rPr lang="en-US" altLang="ko-KR"/>
              <a:t>3</a:t>
            </a:r>
            <a:r>
              <a:rPr lang="ko-KR" altLang="en-US"/>
              <a:t>방식으로 갈리며</a:t>
            </a:r>
            <a:r>
              <a:rPr lang="en-US" altLang="ko-KR"/>
              <a:t>, Python</a:t>
            </a:r>
            <a:r>
              <a:rPr lang="ko-KR" altLang="en-US"/>
              <a:t>도 내부에선 바이트코드로 컴파일한다 </a:t>
            </a:r>
            <a:r>
              <a:rPr lang="en-US" altLang="ko-KR"/>
              <a:t>— </a:t>
            </a:r>
            <a:r>
              <a:rPr lang="ko-KR" altLang="en-US"/>
              <a:t>차이는 언제</a:t>
            </a:r>
            <a:r>
              <a:rPr lang="en-US" altLang="ko-KR"/>
              <a:t>·</a:t>
            </a:r>
            <a:r>
              <a:rPr lang="ko-KR" altLang="en-US"/>
              <a:t>얼마나 최적화하느냐다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930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컴파일은 전처리기→컴파일러→어셈블러→링커의 파이프라인이며</a:t>
            </a:r>
            <a:r>
              <a:rPr lang="en-US" altLang="ko-KR"/>
              <a:t>, </a:t>
            </a:r>
            <a:r>
              <a:rPr lang="ko-KR" altLang="en-US"/>
              <a:t>사람의 판정식 한 줄이 기계 명령 </a:t>
            </a:r>
            <a:r>
              <a:rPr lang="en-US" altLang="ko-KR"/>
              <a:t>7</a:t>
            </a:r>
            <a:r>
              <a:rPr lang="ko-KR" altLang="en-US"/>
              <a:t>개로 풀리는 실물을 보여주는 장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96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같은 가위바위보를 세 언어로 실행하는 경로 비교 </a:t>
            </a:r>
            <a:r>
              <a:rPr lang="en-US" altLang="ko-KR"/>
              <a:t>— C++/Java</a:t>
            </a:r>
            <a:r>
              <a:rPr lang="ko-KR" altLang="en-US"/>
              <a:t>는 빌드 단계가 있고 </a:t>
            </a:r>
            <a:r>
              <a:rPr lang="en-US" altLang="ko-KR"/>
              <a:t>Python</a:t>
            </a:r>
            <a:r>
              <a:rPr lang="ko-KR" altLang="en-US"/>
              <a:t>은 빌드 없이 즉석 번역</a:t>
            </a:r>
            <a:r>
              <a:rPr lang="en-US" altLang="ko-KR"/>
              <a:t>·</a:t>
            </a:r>
            <a:r>
              <a:rPr lang="ko-KR" altLang="en-US"/>
              <a:t>실행하며</a:t>
            </a:r>
            <a:r>
              <a:rPr lang="en-US" altLang="ko-KR"/>
              <a:t>, </a:t>
            </a:r>
            <a:r>
              <a:rPr lang="ko-KR" altLang="en-US"/>
              <a:t>이 </a:t>
            </a:r>
            <a:r>
              <a:rPr lang="en-US" altLang="ko-KR"/>
              <a:t>'</a:t>
            </a:r>
            <a:r>
              <a:rPr lang="ko-KR" altLang="en-US"/>
              <a:t>빌드 없음</a:t>
            </a:r>
            <a:r>
              <a:rPr lang="en-US" altLang="ko-KR"/>
              <a:t>'</a:t>
            </a:r>
            <a:r>
              <a:rPr lang="ko-KR" altLang="en-US"/>
              <a:t>이 생산성의 큰 부분이다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96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타입 </a:t>
            </a:r>
            <a:r>
              <a:rPr lang="en-US" altLang="ko-KR"/>
              <a:t>= </a:t>
            </a:r>
            <a:r>
              <a:rPr lang="ko-KR" altLang="en-US"/>
              <a:t>값의 종류</a:t>
            </a:r>
            <a:r>
              <a:rPr lang="en-US" altLang="ko-KR"/>
              <a:t>. </a:t>
            </a:r>
            <a:r>
              <a:rPr lang="ko-KR" altLang="en-US"/>
              <a:t>상자에 라벨을 미리 붙이나</a:t>
            </a:r>
            <a:r>
              <a:rPr lang="en-US" altLang="ko-KR"/>
              <a:t>(</a:t>
            </a:r>
            <a:r>
              <a:rPr lang="ko-KR" altLang="en-US"/>
              <a:t>정적</a:t>
            </a:r>
            <a:r>
              <a:rPr lang="en-US" altLang="ko-KR"/>
              <a:t>), </a:t>
            </a:r>
            <a:r>
              <a:rPr lang="ko-KR" altLang="en-US"/>
              <a:t>열어봐야 아나</a:t>
            </a:r>
            <a:r>
              <a:rPr lang="en-US" altLang="ko-KR"/>
              <a:t>(</a:t>
            </a:r>
            <a:r>
              <a:rPr lang="ko-KR" altLang="en-US"/>
              <a:t>동적</a:t>
            </a:r>
            <a:r>
              <a:rPr lang="en-US" altLang="ko-KR"/>
              <a:t>) — Java</a:t>
            </a:r>
            <a:r>
              <a:rPr lang="ko-KR" altLang="en-US"/>
              <a:t>는 컴파일 때 검사해 안전하고</a:t>
            </a:r>
            <a:r>
              <a:rPr lang="en-US" altLang="ko-KR"/>
              <a:t>, Python</a:t>
            </a:r>
            <a:r>
              <a:rPr lang="ko-KR" altLang="en-US"/>
              <a:t>은 짧고 유연하되 힌트</a:t>
            </a:r>
            <a:r>
              <a:rPr lang="en-US" altLang="ko-KR"/>
              <a:t>+mypy</a:t>
            </a:r>
            <a:r>
              <a:rPr lang="ko-KR" altLang="en-US"/>
              <a:t>로 점진적 타이핑이 가능하다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97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메모리는 빌리고</a:t>
            </a:r>
            <a:r>
              <a:rPr lang="en-US" altLang="ko-KR"/>
              <a:t>(</a:t>
            </a:r>
            <a:r>
              <a:rPr lang="ko-KR" altLang="en-US"/>
              <a:t>할당</a:t>
            </a:r>
            <a:r>
              <a:rPr lang="en-US" altLang="ko-KR"/>
              <a:t>)·</a:t>
            </a:r>
            <a:r>
              <a:rPr lang="ko-KR" altLang="en-US"/>
              <a:t>쓰고</a:t>
            </a:r>
            <a:r>
              <a:rPr lang="en-US" altLang="ko-KR"/>
              <a:t>·</a:t>
            </a:r>
            <a:r>
              <a:rPr lang="ko-KR" altLang="en-US"/>
              <a:t>반납하는 작업대이며</a:t>
            </a:r>
            <a:r>
              <a:rPr lang="en-US" altLang="ko-KR"/>
              <a:t>, </a:t>
            </a:r>
            <a:r>
              <a:rPr lang="ko-KR" altLang="en-US"/>
              <a:t>반납을 잊은 칸</a:t>
            </a:r>
            <a:r>
              <a:rPr lang="en-US" altLang="ko-KR"/>
              <a:t>(</a:t>
            </a:r>
            <a:r>
              <a:rPr lang="ko-KR" altLang="en-US"/>
              <a:t>누수</a:t>
            </a:r>
            <a:r>
              <a:rPr lang="en-US" altLang="ko-KR"/>
              <a:t>)</a:t>
            </a:r>
            <a:r>
              <a:rPr lang="ko-KR" altLang="en-US"/>
              <a:t>이 쌓이면 작업대가 가득 찬다 </a:t>
            </a:r>
            <a:r>
              <a:rPr lang="en-US" altLang="ko-KR"/>
              <a:t>— </a:t>
            </a:r>
            <a:r>
              <a:rPr lang="ko-KR" altLang="en-US"/>
              <a:t>디버깅 장의 </a:t>
            </a:r>
            <a:r>
              <a:rPr lang="en-US" altLang="ko-KR"/>
              <a:t>OOM</a:t>
            </a:r>
            <a:r>
              <a:rPr lang="ko-KR" altLang="en-US"/>
              <a:t>으로 이어진다</a:t>
            </a:r>
            <a:r>
              <a:rPr lang="en-US" altLang="ko-KR"/>
              <a:t>. (</a:t>
            </a:r>
            <a:r>
              <a:rPr lang="ko-KR" altLang="en-US"/>
              <a:t>클릭</a:t>
            </a:r>
            <a:r>
              <a:rPr lang="en-US" altLang="ko-KR"/>
              <a:t>1: </a:t>
            </a:r>
            <a:r>
              <a:rPr lang="ko-KR" altLang="en-US"/>
              <a:t>할당 </a:t>
            </a:r>
            <a:r>
              <a:rPr lang="en-US" altLang="ko-KR"/>
              <a:t>5</a:t>
            </a:r>
            <a:r>
              <a:rPr lang="ko-KR" altLang="en-US"/>
              <a:t>칸 채워짐 </a:t>
            </a:r>
            <a:r>
              <a:rPr lang="en-US" altLang="ko-KR"/>
              <a:t>· </a:t>
            </a:r>
            <a:r>
              <a:rPr lang="ko-KR" altLang="en-US"/>
              <a:t>클릭</a:t>
            </a:r>
            <a:r>
              <a:rPr lang="en-US" altLang="ko-KR"/>
              <a:t>2: </a:t>
            </a:r>
            <a:r>
              <a:rPr lang="ko-KR" altLang="en-US"/>
              <a:t>두 칸이 누수</a:t>
            </a:r>
            <a:r>
              <a:rPr lang="en-US" altLang="ko-KR"/>
              <a:t>!</a:t>
            </a:r>
            <a:r>
              <a:rPr lang="ko-KR" altLang="en-US"/>
              <a:t>로 반전</a:t>
            </a:r>
            <a:r>
              <a:rPr lang="en-US" altLang="ko-KR"/>
              <a:t>+</a:t>
            </a:r>
            <a:r>
              <a:rPr lang="ko-KR" altLang="en-US"/>
              <a:t>강조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366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메모리 정리 부담은 사라지지 않고 개발자와 런타임 사이를 이동할 뿐 </a:t>
            </a:r>
            <a:r>
              <a:rPr lang="en-US" altLang="ko-KR"/>
              <a:t>— GC </a:t>
            </a:r>
            <a:r>
              <a:rPr lang="ko-KR" altLang="en-US"/>
              <a:t>언어는 같은 일에 메모리를 더 쓰는 경향이 있고</a:t>
            </a:r>
            <a:r>
              <a:rPr lang="en-US" altLang="ko-KR"/>
              <a:t>, </a:t>
            </a:r>
            <a:r>
              <a:rPr lang="ko-KR" altLang="en-US"/>
              <a:t>회수 때 일시 멈춤</a:t>
            </a:r>
            <a:r>
              <a:rPr lang="en-US" altLang="ko-KR"/>
              <a:t>(pause)</a:t>
            </a:r>
            <a:r>
              <a:rPr lang="ko-KR" altLang="en-US"/>
              <a:t>이 생긴다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90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GC</a:t>
            </a:r>
            <a:r>
              <a:rPr lang="ko-KR" altLang="en-US"/>
              <a:t>는 참조가 끊긴 것만 회수하므로 </a:t>
            </a:r>
            <a:r>
              <a:rPr lang="en-US" altLang="ko-KR"/>
              <a:t>JVM</a:t>
            </a:r>
            <a:r>
              <a:rPr lang="ko-KR" altLang="en-US"/>
              <a:t>에서도 누수가 나며</a:t>
            </a:r>
            <a:r>
              <a:rPr lang="en-US" altLang="ko-KR"/>
              <a:t>, </a:t>
            </a:r>
            <a:r>
              <a:rPr lang="ko-KR" altLang="en-US"/>
              <a:t>규모가 커지면 </a:t>
            </a:r>
            <a:r>
              <a:rPr lang="en-US" altLang="ko-KR"/>
              <a:t>GC </a:t>
            </a:r>
            <a:r>
              <a:rPr lang="ko-KR" altLang="en-US"/>
              <a:t>선택과 힙 튜닝이라는 관리가 돌아온다 </a:t>
            </a:r>
            <a:r>
              <a:rPr lang="en-US" altLang="ko-KR"/>
              <a:t>— </a:t>
            </a:r>
            <a:r>
              <a:rPr lang="ko-KR" altLang="en-US"/>
              <a:t>극단이 </a:t>
            </a:r>
            <a:r>
              <a:rPr lang="en-US" altLang="ko-KR"/>
              <a:t>OOM, </a:t>
            </a:r>
            <a:r>
              <a:rPr lang="ko-KR" altLang="en-US"/>
              <a:t>디버깅 장에서 실전으로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31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 줄 요약 </a:t>
            </a:r>
            <a:r>
              <a:rPr lang="en-US" altLang="ko-KR"/>
              <a:t>— Python</a:t>
            </a:r>
            <a:r>
              <a:rPr lang="ko-KR" altLang="en-US"/>
              <a:t>은 </a:t>
            </a:r>
            <a:r>
              <a:rPr lang="en-US" altLang="ko-KR"/>
              <a:t>"</a:t>
            </a:r>
            <a:r>
              <a:rPr lang="ko-KR" altLang="en-US"/>
              <a:t>사람의 시간</a:t>
            </a:r>
            <a:r>
              <a:rPr lang="en-US" altLang="ko-KR"/>
              <a:t>"</a:t>
            </a:r>
            <a:r>
              <a:rPr lang="ko-KR" altLang="en-US"/>
              <a:t>을</a:t>
            </a:r>
            <a:r>
              <a:rPr lang="en-US" altLang="ko-KR"/>
              <a:t>, C/C++</a:t>
            </a:r>
            <a:r>
              <a:rPr lang="ko-KR" altLang="en-US"/>
              <a:t>는 </a:t>
            </a:r>
            <a:r>
              <a:rPr lang="en-US" altLang="ko-KR"/>
              <a:t>"</a:t>
            </a:r>
            <a:r>
              <a:rPr lang="ko-KR" altLang="en-US"/>
              <a:t>기계의 시간</a:t>
            </a:r>
            <a:r>
              <a:rPr lang="en-US" altLang="ko-KR"/>
              <a:t>"</a:t>
            </a:r>
            <a:r>
              <a:rPr lang="ko-KR" altLang="en-US"/>
              <a:t>을 아끼도록 최적화된 언어다</a:t>
            </a:r>
            <a:r>
              <a:rPr lang="en-US" altLang="ko-KR"/>
              <a:t>. </a:t>
            </a:r>
            <a:r>
              <a:rPr lang="ko-KR" altLang="en-US"/>
              <a:t>이 요약으로 </a:t>
            </a:r>
            <a:r>
              <a:rPr lang="en-US" altLang="ko-KR"/>
              <a:t>01</a:t>
            </a:r>
            <a:r>
              <a:rPr lang="ko-KR" altLang="en-US"/>
              <a:t>장을 닫는다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669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python.exe</a:t>
            </a:r>
            <a:r>
              <a:rPr lang="ko-KR" altLang="en-US"/>
              <a:t>가 엔진</a:t>
            </a:r>
            <a:r>
              <a:rPr lang="en-US" altLang="ko-KR"/>
              <a:t>, .py</a:t>
            </a:r>
            <a:r>
              <a:rPr lang="ko-KR" altLang="en-US"/>
              <a:t>가 연료라는 비유로 시작해</a:t>
            </a:r>
            <a:r>
              <a:rPr lang="en-US" altLang="ko-KR"/>
              <a:t>, </a:t>
            </a:r>
            <a:r>
              <a:rPr lang="ko-KR" altLang="en-US"/>
              <a:t>전역 </a:t>
            </a:r>
            <a:r>
              <a:rPr lang="en-US" altLang="ko-KR"/>
              <a:t>site-packages </a:t>
            </a:r>
            <a:r>
              <a:rPr lang="ko-KR" altLang="en-US"/>
              <a:t>하나를 모두가 공유하면 버전 충돌이 나므로 프로젝트마다 </a:t>
            </a:r>
            <a:r>
              <a:rPr lang="en-US" altLang="ko-KR"/>
              <a:t>.venv </a:t>
            </a:r>
            <a:r>
              <a:rPr lang="ko-KR" altLang="en-US"/>
              <a:t>상자를 따로 만든다는 것이 요지</a:t>
            </a:r>
            <a:r>
              <a:rPr lang="en-US" altLang="ko-KR"/>
              <a:t>. .venv</a:t>
            </a:r>
            <a:r>
              <a:rPr lang="ko-KR" altLang="en-US"/>
              <a:t>는 커밋하지 않고 각자 만든다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042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도구를 ①파이썬 버전 ②가상환경 ③패키지 설치 ④잠금 ⑤운영 서버의 다섯 역할로 나누면 정리된다</a:t>
            </a:r>
            <a:r>
              <a:rPr lang="en-US" altLang="ko-KR"/>
              <a:t>. uv ⭐</a:t>
            </a:r>
            <a:r>
              <a:rPr lang="ko-KR" altLang="en-US"/>
              <a:t>와 </a:t>
            </a:r>
            <a:r>
              <a:rPr lang="en-US" altLang="ko-KR"/>
              <a:t>conda ⭐</a:t>
            </a:r>
            <a:r>
              <a:rPr lang="ko-KR" altLang="en-US"/>
              <a:t>가 권장 </a:t>
            </a:r>
            <a:r>
              <a:rPr lang="en-US" altLang="ko-KR"/>
              <a:t>— </a:t>
            </a:r>
            <a:r>
              <a:rPr lang="ko-KR" altLang="en-US"/>
              <a:t>특히 </a:t>
            </a:r>
            <a:r>
              <a:rPr lang="en-US" altLang="ko-KR"/>
              <a:t>conda</a:t>
            </a:r>
            <a:r>
              <a:rPr lang="ko-KR" altLang="en-US"/>
              <a:t>는 </a:t>
            </a:r>
            <a:r>
              <a:rPr lang="en-US" altLang="ko-KR"/>
              <a:t>AI/ML </a:t>
            </a:r>
            <a:r>
              <a:rPr lang="ko-KR" altLang="en-US"/>
              <a:t>연구실의 주력이고</a:t>
            </a:r>
            <a:r>
              <a:rPr lang="en-US" altLang="ko-KR"/>
              <a:t>, gunicorn</a:t>
            </a:r>
            <a:r>
              <a:rPr lang="ko-KR" altLang="en-US"/>
              <a:t>은 리눅스용이라 </a:t>
            </a:r>
            <a:r>
              <a:rPr lang="en-US" altLang="ko-KR"/>
              <a:t>WSL·Docker</a:t>
            </a:r>
            <a:r>
              <a:rPr lang="ko-KR" altLang="en-US"/>
              <a:t>로 배포한다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07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==1.2.3</a:t>
            </a:r>
            <a:r>
              <a:rPr lang="ko-KR" altLang="en-US"/>
              <a:t>은 고정</a:t>
            </a:r>
            <a:r>
              <a:rPr lang="en-US" altLang="ko-KR"/>
              <a:t>(pinning), &gt;=</a:t>
            </a:r>
            <a:r>
              <a:rPr lang="ko-KR" altLang="en-US"/>
              <a:t>는 하한</a:t>
            </a:r>
            <a:r>
              <a:rPr lang="en-US" altLang="ko-KR"/>
              <a:t>(lower bound)·&lt;=</a:t>
            </a:r>
            <a:r>
              <a:rPr lang="ko-KR" altLang="en-US"/>
              <a:t>는 상한</a:t>
            </a:r>
            <a:r>
              <a:rPr lang="en-US" altLang="ko-KR"/>
              <a:t>. pyproject.toml</a:t>
            </a:r>
            <a:r>
              <a:rPr lang="ko-KR" altLang="en-US"/>
              <a:t>은 프로젝트 정의서</a:t>
            </a:r>
            <a:r>
              <a:rPr lang="en-US" altLang="ko-KR"/>
              <a:t>(</a:t>
            </a:r>
            <a:r>
              <a:rPr lang="ko-KR" altLang="en-US"/>
              <a:t>레시피</a:t>
            </a:r>
            <a:r>
              <a:rPr lang="en-US" altLang="ko-KR"/>
              <a:t>), requirements.txt</a:t>
            </a:r>
            <a:r>
              <a:rPr lang="ko-KR" altLang="en-US"/>
              <a:t>는 설치 목록</a:t>
            </a:r>
            <a:r>
              <a:rPr lang="en-US" altLang="ko-KR"/>
              <a:t>(</a:t>
            </a:r>
            <a:r>
              <a:rPr lang="ko-KR" altLang="en-US"/>
              <a:t>장보기</a:t>
            </a:r>
            <a:r>
              <a:rPr lang="en-US" altLang="ko-KR"/>
              <a:t>), lock </a:t>
            </a:r>
            <a:r>
              <a:rPr lang="ko-KR" altLang="en-US"/>
              <a:t>파일은 하위 의존성까지 정확 재현</a:t>
            </a:r>
            <a:r>
              <a:rPr lang="en-US" altLang="ko-KR"/>
              <a:t>. </a:t>
            </a:r>
            <a:r>
              <a:rPr lang="ko-KR" altLang="en-US"/>
              <a:t>범위</a:t>
            </a:r>
            <a:r>
              <a:rPr lang="en-US" altLang="ko-KR"/>
              <a:t>=</a:t>
            </a:r>
            <a:r>
              <a:rPr lang="ko-KR" altLang="en-US"/>
              <a:t>자동 버그픽스↔깨질 위험</a:t>
            </a:r>
            <a:r>
              <a:rPr lang="en-US" altLang="ko-KR"/>
              <a:t>, </a:t>
            </a:r>
            <a:r>
              <a:rPr lang="ko-KR" altLang="en-US"/>
              <a:t>고정</a:t>
            </a:r>
            <a:r>
              <a:rPr lang="en-US" altLang="ko-KR"/>
              <a:t>=</a:t>
            </a:r>
            <a:r>
              <a:rPr lang="ko-KR" altLang="en-US"/>
              <a:t>재현성↔수동 갱신의 트레이드오프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560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본격 문법에 앞서 비유로 </a:t>
            </a:r>
            <a:r>
              <a:rPr lang="en-US" altLang="ko-KR"/>
              <a:t>3</a:t>
            </a:r>
            <a:r>
              <a:rPr lang="ko-KR" altLang="en-US"/>
              <a:t>대 개념을 잡는다 </a:t>
            </a:r>
            <a:r>
              <a:rPr lang="en-US" altLang="ko-KR"/>
              <a:t>— </a:t>
            </a:r>
            <a:r>
              <a:rPr lang="ko-KR" altLang="en-US"/>
              <a:t>변수</a:t>
            </a:r>
            <a:r>
              <a:rPr lang="en-US" altLang="ko-KR"/>
              <a:t>=</a:t>
            </a:r>
            <a:r>
              <a:rPr lang="ko-KR" altLang="en-US"/>
              <a:t>이름표 붙은 상자</a:t>
            </a:r>
            <a:r>
              <a:rPr lang="en-US" altLang="ko-KR"/>
              <a:t>, </a:t>
            </a:r>
            <a:r>
              <a:rPr lang="ko-KR" altLang="en-US"/>
              <a:t>함수</a:t>
            </a:r>
            <a:r>
              <a:rPr lang="en-US" altLang="ko-KR"/>
              <a:t>=</a:t>
            </a:r>
            <a:r>
              <a:rPr lang="ko-KR" altLang="en-US"/>
              <a:t>재료를 넣으면 결과를 주는 기계</a:t>
            </a:r>
            <a:r>
              <a:rPr lang="en-US" altLang="ko-KR"/>
              <a:t>, </a:t>
            </a:r>
            <a:r>
              <a:rPr lang="ko-KR" altLang="en-US"/>
              <a:t>클래스</a:t>
            </a:r>
            <a:r>
              <a:rPr lang="en-US" altLang="ko-KR"/>
              <a:t>=</a:t>
            </a:r>
            <a:r>
              <a:rPr lang="ko-KR" altLang="en-US"/>
              <a:t>붕어빵 틀</a:t>
            </a:r>
            <a:r>
              <a:rPr lang="en-US" altLang="ko-KR"/>
              <a:t>. </a:t>
            </a:r>
            <a:r>
              <a:rPr lang="ko-KR" altLang="en-US"/>
              <a:t>대입</a:t>
            </a:r>
            <a:r>
              <a:rPr lang="en-US" altLang="ko-KR"/>
              <a:t>·</a:t>
            </a:r>
            <a:r>
              <a:rPr lang="ko-KR" altLang="en-US"/>
              <a:t>호출</a:t>
            </a:r>
            <a:r>
              <a:rPr lang="en-US" altLang="ko-KR"/>
              <a:t>·</a:t>
            </a:r>
            <a:r>
              <a:rPr lang="ko-KR" altLang="en-US"/>
              <a:t>반환</a:t>
            </a:r>
            <a:r>
              <a:rPr lang="en-US" altLang="ko-KR"/>
              <a:t>·</a:t>
            </a:r>
            <a:r>
              <a:rPr lang="ko-KR" altLang="en-US"/>
              <a:t>인자</a:t>
            </a:r>
            <a:r>
              <a:rPr lang="en-US" altLang="ko-KR"/>
              <a:t>/</a:t>
            </a:r>
            <a:r>
              <a:rPr lang="ko-KR" altLang="en-US"/>
              <a:t>매개변수 용어도 여기서 정리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014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파이썬은 </a:t>
            </a:r>
            <a:r>
              <a:rPr lang="en-US" altLang="ko-KR"/>
              <a:t>Java </a:t>
            </a:r>
            <a:r>
              <a:rPr lang="ko-KR" altLang="en-US"/>
              <a:t>같은 타입 선언이 없고 대입이 곧 생성 </a:t>
            </a:r>
            <a:r>
              <a:rPr lang="en-US" altLang="ko-KR"/>
              <a:t>— </a:t>
            </a:r>
            <a:r>
              <a:rPr lang="ko-KR" altLang="en-US"/>
              <a:t>값이 곧 타입이다</a:t>
            </a:r>
            <a:r>
              <a:rPr lang="en-US" altLang="ko-KR"/>
              <a:t>. </a:t>
            </a:r>
            <a:r>
              <a:rPr lang="ko-KR" altLang="en-US"/>
              <a:t>타입 힌트는 실행에 영향 없는 안전 표시</a:t>
            </a:r>
            <a:r>
              <a:rPr lang="en-US" altLang="ko-KR"/>
              <a:t>(mypy·</a:t>
            </a:r>
            <a:r>
              <a:rPr lang="ko-KR" altLang="en-US"/>
              <a:t>에디터가 검사</a:t>
            </a:r>
            <a:r>
              <a:rPr lang="en-US" altLang="ko-KR"/>
              <a:t>), const </a:t>
            </a:r>
            <a:r>
              <a:rPr lang="ko-KR" altLang="en-US"/>
              <a:t>대신 대문자</a:t>
            </a:r>
            <a:r>
              <a:rPr lang="en-US" altLang="ko-KR"/>
              <a:t>(_ALIASES) </a:t>
            </a:r>
            <a:r>
              <a:rPr lang="ko-KR" altLang="en-US"/>
              <a:t>관례를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611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def </a:t>
            </a:r>
            <a:r>
              <a:rPr lang="ko-KR" altLang="en-US"/>
              <a:t>본문은 들여쓰기로 구분하고 클래스 밖 자유 함수도 허용</a:t>
            </a:r>
            <a:r>
              <a:rPr lang="en-US" altLang="ko-KR"/>
              <a:t>. </a:t>
            </a:r>
            <a:r>
              <a:rPr lang="ko-KR" altLang="en-US"/>
              <a:t>기본 인자와 </a:t>
            </a:r>
            <a:r>
              <a:rPr lang="en-US" altLang="ko-KR"/>
              <a:t>None</a:t>
            </a:r>
            <a:r>
              <a:rPr lang="ko-KR" altLang="en-US"/>
              <a:t>을 소개한 뒤</a:t>
            </a:r>
            <a:r>
              <a:rPr lang="en-US" altLang="ko-KR"/>
              <a:t>, </a:t>
            </a:r>
            <a:r>
              <a:rPr lang="ko-KR" altLang="en-US"/>
              <a:t>함수가 일급</a:t>
            </a:r>
            <a:r>
              <a:rPr lang="en-US" altLang="ko-KR"/>
              <a:t>(first-class) </a:t>
            </a:r>
            <a:r>
              <a:rPr lang="ko-KR" altLang="en-US"/>
              <a:t>객체라 변수에 담아 호출할 수 있음을 보인다 </a:t>
            </a:r>
            <a:r>
              <a:rPr lang="en-US" altLang="ko-KR"/>
              <a:t>— rng=secrets.randbelow</a:t>
            </a:r>
            <a:r>
              <a:rPr lang="ko-KR" altLang="en-US"/>
              <a:t>에 괄호가 없는 이유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942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변수</a:t>
            </a:r>
            <a:r>
              <a:rPr lang="en-US" altLang="ko-KR"/>
              <a:t>(</a:t>
            </a:r>
            <a:r>
              <a:rPr lang="ko-KR" altLang="en-US"/>
              <a:t>變數</a:t>
            </a:r>
            <a:r>
              <a:rPr lang="en-US" altLang="ko-KR"/>
              <a:t>)·</a:t>
            </a:r>
            <a:r>
              <a:rPr lang="ko-KR" altLang="en-US"/>
              <a:t>상수</a:t>
            </a:r>
            <a:r>
              <a:rPr lang="en-US" altLang="ko-KR"/>
              <a:t>(</a:t>
            </a:r>
            <a:r>
              <a:rPr lang="ko-KR" altLang="en-US"/>
              <a:t>常數</a:t>
            </a:r>
            <a:r>
              <a:rPr lang="en-US" altLang="ko-KR"/>
              <a:t>)</a:t>
            </a:r>
            <a:r>
              <a:rPr lang="ko-KR" altLang="en-US"/>
              <a:t>의 한자 뜻에서 출발해 파이썬에 </a:t>
            </a:r>
            <a:r>
              <a:rPr lang="en-US" altLang="ko-KR"/>
              <a:t>const</a:t>
            </a:r>
            <a:r>
              <a:rPr lang="ko-KR" altLang="en-US"/>
              <a:t>가 없는 세 가지 이유</a:t>
            </a:r>
            <a:r>
              <a:rPr lang="en-US" altLang="ko-KR"/>
              <a:t>(</a:t>
            </a:r>
            <a:r>
              <a:rPr lang="ko-KR" altLang="en-US"/>
              <a:t>어른 철학</a:t>
            </a:r>
            <a:r>
              <a:rPr lang="en-US" altLang="ko-KR"/>
              <a:t>·</a:t>
            </a:r>
            <a:r>
              <a:rPr lang="ko-KR" altLang="en-US"/>
              <a:t>이름표 모델</a:t>
            </a:r>
            <a:r>
              <a:rPr lang="en-US" altLang="ko-KR"/>
              <a:t>·</a:t>
            </a:r>
            <a:r>
              <a:rPr lang="ko-KR" altLang="en-US"/>
              <a:t>값 불변화</a:t>
            </a:r>
            <a:r>
              <a:rPr lang="en-US" altLang="ko-KR"/>
              <a:t>)</a:t>
            </a:r>
            <a:r>
              <a:rPr lang="ko-KR" altLang="en-US"/>
              <a:t>를 설명하고</a:t>
            </a:r>
            <a:r>
              <a:rPr lang="en-US" altLang="ko-KR"/>
              <a:t>, </a:t>
            </a:r>
            <a:r>
              <a:rPr lang="ko-KR" altLang="en-US"/>
              <a:t>일급</a:t>
            </a:r>
            <a:r>
              <a:rPr lang="en-US" altLang="ko-KR"/>
              <a:t>=</a:t>
            </a:r>
            <a:r>
              <a:rPr lang="ko-KR" altLang="en-US"/>
              <a:t>차별 없는 시민권 비유와 이급</a:t>
            </a:r>
            <a:r>
              <a:rPr lang="en-US" altLang="ko-KR"/>
              <a:t>(second-class)</a:t>
            </a:r>
            <a:r>
              <a:rPr lang="ko-KR" altLang="en-US"/>
              <a:t>이 실존 용어임을 정리한다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80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클래스 </a:t>
            </a:r>
            <a:r>
              <a:rPr lang="en-US" altLang="ko-KR"/>
              <a:t>= </a:t>
            </a:r>
            <a:r>
              <a:rPr lang="ko-KR" altLang="en-US"/>
              <a:t>현실을 추상화해 데이터와 동작을 묶는 설계도라는 요지</a:t>
            </a:r>
            <a:r>
              <a:rPr lang="en-US" altLang="ko-KR"/>
              <a:t>. </a:t>
            </a:r>
            <a:r>
              <a:rPr lang="ko-KR" altLang="en-US"/>
              <a:t>발표 시 </a:t>
            </a:r>
            <a:r>
              <a:rPr lang="en-US" altLang="ko-KR"/>
              <a:t>'</a:t>
            </a:r>
            <a:r>
              <a:rPr lang="ko-KR" altLang="en-US"/>
              <a:t>🎓 대학원생을 추상화해 보면</a:t>
            </a:r>
            <a:r>
              <a:rPr lang="en-US" altLang="ko-KR"/>
              <a:t>?' </a:t>
            </a:r>
            <a:r>
              <a:rPr lang="ko-KR" altLang="en-US"/>
              <a:t>버튼 클릭 리빌로 </a:t>
            </a:r>
            <a:r>
              <a:rPr lang="en-US" altLang="ko-KR"/>
              <a:t>GradStudent.java </a:t>
            </a:r>
            <a:r>
              <a:rPr lang="ko-KR" altLang="en-US"/>
              <a:t>코드를 공개한다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51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C++</a:t>
            </a:r>
            <a:r>
              <a:rPr lang="ko-KR" altLang="en-US"/>
              <a:t>는 멤버 선언이 컴파일 시 고정 메모리 배치를 만들고</a:t>
            </a:r>
            <a:r>
              <a:rPr lang="en-US" altLang="ko-KR"/>
              <a:t>(sizeof</a:t>
            </a:r>
            <a:r>
              <a:rPr lang="ko-KR" altLang="en-US"/>
              <a:t>로 보임</a:t>
            </a:r>
            <a:r>
              <a:rPr lang="en-US" altLang="ko-KR"/>
              <a:t>), Python</a:t>
            </a:r>
            <a:r>
              <a:rPr lang="ko-KR" altLang="en-US"/>
              <a:t>은 </a:t>
            </a:r>
            <a:r>
              <a:rPr lang="en-US" altLang="ko-KR"/>
              <a:t>__init__</a:t>
            </a:r>
            <a:r>
              <a:rPr lang="ko-KR" altLang="en-US"/>
              <a:t>의 대입 순간 </a:t>
            </a:r>
            <a:r>
              <a:rPr lang="en-US" altLang="ko-KR"/>
              <a:t>__dict__</a:t>
            </a:r>
            <a:r>
              <a:rPr lang="ko-KR" altLang="en-US"/>
              <a:t>에 칸이 생긴다는 대비가 요지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217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던더를 정의하면 내 타입이 언어 문법에 끼워진다 </a:t>
            </a:r>
            <a:r>
              <a:rPr lang="en-US" altLang="ko-KR"/>
              <a:t>— dataclass</a:t>
            </a:r>
            <a:r>
              <a:rPr lang="ko-KR" altLang="en-US"/>
              <a:t>가 </a:t>
            </a:r>
            <a:r>
              <a:rPr lang="en-US" altLang="ko-KR"/>
              <a:t>__eq__</a:t>
            </a:r>
            <a:r>
              <a:rPr lang="ko-KR" altLang="en-US"/>
              <a:t>를 만들어 주면 </a:t>
            </a:r>
            <a:r>
              <a:rPr lang="en-US" altLang="ko-KR"/>
              <a:t>==</a:t>
            </a:r>
            <a:r>
              <a:rPr lang="ko-KR" altLang="en-US"/>
              <a:t>가 그냥 동작하는 이유</a:t>
            </a:r>
            <a:r>
              <a:rPr lang="en-US" altLang="ko-KR"/>
              <a:t>. </a:t>
            </a:r>
            <a:r>
              <a:rPr lang="ko-KR" altLang="en-US"/>
              <a:t>메서드</a:t>
            </a:r>
            <a:r>
              <a:rPr lang="en-US" altLang="ko-KR"/>
              <a:t>/</a:t>
            </a:r>
            <a:r>
              <a:rPr lang="ko-KR" altLang="en-US"/>
              <a:t>연산자 오버로딩 두 갈래 구분을 강조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947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던더는 정해진 상황에서 파이썬이 대신 불러 주는 약속된 이름</a:t>
            </a:r>
            <a:r>
              <a:rPr lang="en-US" altLang="ko-KR"/>
              <a:t>. </a:t>
            </a:r>
            <a:r>
              <a:rPr lang="ko-KR" altLang="en-US"/>
              <a:t>규약은 메서드만이 아니라 모듈</a:t>
            </a:r>
            <a:r>
              <a:rPr lang="en-US" altLang="ko-KR"/>
              <a:t>·</a:t>
            </a:r>
            <a:r>
              <a:rPr lang="ko-KR" altLang="en-US"/>
              <a:t>변수</a:t>
            </a:r>
            <a:r>
              <a:rPr lang="en-US" altLang="ko-KR"/>
              <a:t>(__name__·__file__·__dict__)</a:t>
            </a:r>
            <a:r>
              <a:rPr lang="ko-KR" altLang="en-US"/>
              <a:t>에도 적용된다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4665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Hand(IntEnum)·PlayResponse(BaseModel)</a:t>
            </a:r>
            <a:r>
              <a:rPr lang="ko-KR" altLang="en-US"/>
              <a:t>처럼 이미 상속을 쓰고 있었다는 요지</a:t>
            </a:r>
            <a:r>
              <a:rPr lang="en-US" altLang="ko-KR"/>
              <a:t>. </a:t>
            </a:r>
            <a:r>
              <a:rPr lang="ko-KR" altLang="en-US"/>
              <a:t>파이썬 상속의 주 용도는 </a:t>
            </a:r>
            <a:r>
              <a:rPr lang="en-US" altLang="ko-KR"/>
              <a:t>'</a:t>
            </a:r>
            <a:r>
              <a:rPr lang="ko-KR" altLang="en-US"/>
              <a:t>능력 물려받기</a:t>
            </a:r>
            <a:r>
              <a:rPr lang="en-US" altLang="ko-KR"/>
              <a:t>'</a:t>
            </a:r>
            <a:r>
              <a:rPr lang="ko-KR" altLang="en-US"/>
              <a:t>이며</a:t>
            </a:r>
            <a:r>
              <a:rPr lang="en-US" altLang="ko-KR"/>
              <a:t>, </a:t>
            </a:r>
            <a:r>
              <a:rPr lang="ko-KR" altLang="en-US"/>
              <a:t>교체 지점용 상속은 일급 함수로 대체되어 덜 필요하다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4530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믿는 내부 데이터는 </a:t>
            </a:r>
            <a:r>
              <a:rPr lang="en-US" altLang="ko-KR"/>
              <a:t>@dataclass, </a:t>
            </a:r>
            <a:r>
              <a:rPr lang="ko-KR" altLang="en-US"/>
              <a:t>외부 경계는 </a:t>
            </a:r>
            <a:r>
              <a:rPr lang="en-US" altLang="ko-KR"/>
              <a:t>Pydantic</a:t>
            </a:r>
            <a:r>
              <a:rPr lang="ko-KR" altLang="en-US"/>
              <a:t>으로 런타임 검증한다는 역할 분담이 요지 </a:t>
            </a:r>
            <a:r>
              <a:rPr lang="en-US" altLang="ko-KR"/>
              <a:t>— </a:t>
            </a:r>
            <a:r>
              <a:rPr lang="ko-KR" altLang="en-US"/>
              <a:t>순수 도메인 </a:t>
            </a:r>
            <a:r>
              <a:rPr lang="en-US" altLang="ko-KR"/>
              <a:t>GameResult</a:t>
            </a:r>
            <a:r>
              <a:rPr lang="ko-KR" altLang="en-US"/>
              <a:t>는 </a:t>
            </a:r>
            <a:r>
              <a:rPr lang="en-US" altLang="ko-KR"/>
              <a:t>@dataclass </a:t>
            </a:r>
            <a:r>
              <a:rPr lang="ko-KR" altLang="en-US"/>
              <a:t>그대로</a:t>
            </a:r>
            <a:r>
              <a:rPr lang="en-US" altLang="ko-KR"/>
              <a:t>, </a:t>
            </a:r>
            <a:r>
              <a:rPr lang="ko-KR" altLang="en-US"/>
              <a:t>경계에서만 </a:t>
            </a:r>
            <a:r>
              <a:rPr lang="en-US" altLang="ko-KR"/>
              <a:t>Pydantic.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915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파이썬 </a:t>
            </a:r>
            <a:r>
              <a:rPr lang="en-US" altLang="ko-KR"/>
              <a:t>@</a:t>
            </a:r>
            <a:r>
              <a:rPr lang="ko-KR" altLang="en-US"/>
              <a:t>는 정의 시 즉시 실행되는 함수</a:t>
            </a:r>
            <a:r>
              <a:rPr lang="en-US" altLang="ko-KR"/>
              <a:t>(bar = foo(bar)), Java @</a:t>
            </a:r>
            <a:r>
              <a:rPr lang="ko-KR" altLang="en-US"/>
              <a:t>는 프레임워크가 리플렉션으로 스캔하는 수동 메타데이터라는 대비가 요지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9934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좋은 예외 처리 </a:t>
            </a:r>
            <a:r>
              <a:rPr lang="en-US" altLang="ko-KR"/>
              <a:t>= </a:t>
            </a:r>
            <a:r>
              <a:rPr lang="ko-KR" altLang="en-US"/>
              <a:t>좋은 라벨 달기 </a:t>
            </a:r>
            <a:r>
              <a:rPr lang="en-US" altLang="ko-KR"/>
              <a:t>— </a:t>
            </a:r>
            <a:r>
              <a:rPr lang="ko-KR" altLang="en-US"/>
              <a:t>분석한 만큼만 좁게 잡고</a:t>
            </a:r>
            <a:r>
              <a:rPr lang="en-US" altLang="ko-KR"/>
              <a:t>, </a:t>
            </a:r>
            <a:r>
              <a:rPr lang="ko-KR" altLang="en-US"/>
              <a:t>나머지는 정직하게 흘려보낸다</a:t>
            </a:r>
            <a:r>
              <a:rPr lang="en-US" altLang="ko-KR"/>
              <a:t>. </a:t>
            </a:r>
            <a:r>
              <a:rPr lang="ko-KR" altLang="en-US"/>
              <a:t>뒤 디버깅 장의 </a:t>
            </a:r>
            <a:r>
              <a:rPr lang="en-US" altLang="ko-KR"/>
              <a:t>'</a:t>
            </a:r>
            <a:r>
              <a:rPr lang="ko-KR" altLang="en-US"/>
              <a:t>라벨</a:t>
            </a:r>
            <a:r>
              <a:rPr lang="en-US" altLang="ko-KR"/>
              <a:t>' </a:t>
            </a:r>
            <a:r>
              <a:rPr lang="ko-KR" altLang="en-US"/>
              <a:t>이야기와 연결되는 장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277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판정 공식 </a:t>
            </a:r>
            <a:r>
              <a:rPr lang="en-US" altLang="ko-KR"/>
              <a:t>diff = (player − computer + 3) % 3 </a:t>
            </a:r>
            <a:r>
              <a:rPr lang="ko-KR" altLang="en-US"/>
              <a:t>은 세 언어가 동일하다 </a:t>
            </a:r>
            <a:r>
              <a:rPr lang="en-US" altLang="ko-KR"/>
              <a:t>— </a:t>
            </a:r>
            <a:r>
              <a:rPr lang="ko-KR" altLang="en-US"/>
              <a:t>차이는 로직을 감싸는 언어의 껍질</a:t>
            </a:r>
            <a:r>
              <a:rPr lang="en-US" altLang="ko-KR"/>
              <a:t>(</a:t>
            </a:r>
            <a:r>
              <a:rPr lang="ko-KR" altLang="en-US"/>
              <a:t>스캐폴딩</a:t>
            </a:r>
            <a:r>
              <a:rPr lang="en-US" altLang="ko-KR"/>
              <a:t>)</a:t>
            </a:r>
            <a:r>
              <a:rPr lang="ko-KR" altLang="en-US"/>
              <a:t>에서 난다는 것이 </a:t>
            </a:r>
            <a:r>
              <a:rPr lang="en-US" altLang="ko-KR"/>
              <a:t>04</a:t>
            </a:r>
            <a:r>
              <a:rPr lang="ko-KR" altLang="en-US"/>
              <a:t>장의 논지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9530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인라인 한 줄 비교는 착시 </a:t>
            </a:r>
            <a:r>
              <a:rPr lang="en-US" altLang="ko-KR"/>
              <a:t>— player.code() </a:t>
            </a:r>
            <a:r>
              <a:rPr lang="ko-KR" altLang="en-US"/>
              <a:t>한 조각 뒤에 필드</a:t>
            </a:r>
            <a:r>
              <a:rPr lang="en-US" altLang="ko-KR"/>
              <a:t>·</a:t>
            </a:r>
            <a:r>
              <a:rPr lang="ko-KR" altLang="en-US"/>
              <a:t>생성자</a:t>
            </a:r>
            <a:r>
              <a:rPr lang="en-US" altLang="ko-KR"/>
              <a:t>·</a:t>
            </a:r>
            <a:r>
              <a:rPr lang="ko-KR" altLang="en-US"/>
              <a:t>접근자</a:t>
            </a:r>
            <a:r>
              <a:rPr lang="en-US" altLang="ko-KR"/>
              <a:t>·</a:t>
            </a:r>
            <a:r>
              <a:rPr lang="ko-KR" altLang="en-US"/>
              <a:t>역조회가 딸려온다</a:t>
            </a:r>
            <a:r>
              <a:rPr lang="en-US" altLang="ko-KR"/>
              <a:t>. </a:t>
            </a:r>
            <a:r>
              <a:rPr lang="ko-KR" altLang="en-US"/>
              <a:t>다음 장부터 전체 구현을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2536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IntEnum 5</a:t>
            </a:r>
            <a:r>
              <a:rPr lang="ko-KR" altLang="en-US"/>
              <a:t>줄이 </a:t>
            </a:r>
            <a:r>
              <a:rPr lang="en-US" altLang="ko-KR"/>
              <a:t>Java 34</a:t>
            </a:r>
            <a:r>
              <a:rPr lang="ko-KR" altLang="en-US"/>
              <a:t>줄</a:t>
            </a:r>
            <a:r>
              <a:rPr lang="en-US" altLang="ko-KR"/>
              <a:t>·C++ 41</a:t>
            </a:r>
            <a:r>
              <a:rPr lang="ko-KR" altLang="en-US"/>
              <a:t>줄과 같은 기능</a:t>
            </a:r>
            <a:r>
              <a:rPr lang="en-US" altLang="ko-KR"/>
              <a:t>(</a:t>
            </a:r>
            <a:r>
              <a:rPr lang="ko-KR" altLang="en-US"/>
              <a:t>정수 코드</a:t>
            </a:r>
            <a:r>
              <a:rPr lang="en-US" altLang="ko-KR"/>
              <a:t>·</a:t>
            </a:r>
            <a:r>
              <a:rPr lang="ko-KR" altLang="en-US"/>
              <a:t>역조회</a:t>
            </a:r>
            <a:r>
              <a:rPr lang="en-US" altLang="ko-KR"/>
              <a:t>·</a:t>
            </a:r>
            <a:r>
              <a:rPr lang="ko-KR" altLang="en-US"/>
              <a:t>이름 문자열</a:t>
            </a:r>
            <a:r>
              <a:rPr lang="en-US" altLang="ko-KR"/>
              <a:t>)</a:t>
            </a:r>
            <a:r>
              <a:rPr lang="ko-KR" altLang="en-US"/>
              <a:t>을 공짜로 제공한다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5055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Python</a:t>
            </a:r>
            <a:r>
              <a:rPr lang="ko-KR" altLang="en-US"/>
              <a:t>은 함수가 일급 객체라 </a:t>
            </a:r>
            <a:r>
              <a:rPr lang="en-US" altLang="ko-KR"/>
              <a:t>rng </a:t>
            </a:r>
            <a:r>
              <a:rPr lang="ko-KR" altLang="en-US"/>
              <a:t>파라미터 </a:t>
            </a:r>
            <a:r>
              <a:rPr lang="en-US" altLang="ko-KR"/>
              <a:t>1</a:t>
            </a:r>
            <a:r>
              <a:rPr lang="ko-KR" altLang="en-US"/>
              <a:t>줄로 난수 주입이 끝난다 </a:t>
            </a:r>
            <a:r>
              <a:rPr lang="en-US" altLang="ko-KR"/>
              <a:t>— C++</a:t>
            </a:r>
            <a:r>
              <a:rPr lang="ko-KR" altLang="en-US"/>
              <a:t>는 </a:t>
            </a:r>
            <a:r>
              <a:rPr lang="en-US" altLang="ko-KR"/>
              <a:t>RandomSource </a:t>
            </a:r>
            <a:r>
              <a:rPr lang="ko-KR" altLang="en-US"/>
              <a:t>인터페이스 계층 전용 파일 </a:t>
            </a:r>
            <a:r>
              <a:rPr lang="en-US" altLang="ko-KR"/>
              <a:t>~40</a:t>
            </a:r>
            <a:r>
              <a:rPr lang="ko-KR" altLang="en-US"/>
              <a:t>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084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정규화가 </a:t>
            </a:r>
            <a:r>
              <a:rPr lang="en-US" altLang="ko-KR"/>
              <a:t>.strip().lower() </a:t>
            </a:r>
            <a:r>
              <a:rPr lang="ko-KR" altLang="en-US"/>
              <a:t>한 줄 </a:t>
            </a:r>
            <a:r>
              <a:rPr lang="en-US" altLang="ko-KR"/>
              <a:t>— C++</a:t>
            </a:r>
            <a:r>
              <a:rPr lang="ko-KR" altLang="en-US"/>
              <a:t>는 </a:t>
            </a:r>
            <a:r>
              <a:rPr lang="en-US" altLang="ko-KR"/>
              <a:t>normalize</a:t>
            </a:r>
            <a:r>
              <a:rPr lang="ko-KR" altLang="en-US"/>
              <a:t>를 손수 구현하고 헤더 분리까지 </a:t>
            </a:r>
            <a:r>
              <a:rPr lang="en-US" altLang="ko-KR"/>
              <a:t>2</a:t>
            </a:r>
            <a:r>
              <a:rPr lang="ko-KR" altLang="en-US"/>
              <a:t>파일 </a:t>
            </a:r>
            <a:r>
              <a:rPr lang="en-US" altLang="ko-KR"/>
              <a:t>86</a:t>
            </a:r>
            <a:r>
              <a:rPr lang="ko-KR" altLang="en-US"/>
              <a:t>줄이 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0169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Spring</a:t>
            </a:r>
            <a:r>
              <a:rPr lang="ko-KR" altLang="en-US"/>
              <a:t>의 </a:t>
            </a:r>
            <a:r>
              <a:rPr lang="en-US" altLang="ko-KR"/>
              <a:t>3</a:t>
            </a:r>
            <a:r>
              <a:rPr lang="ko-KR" altLang="en-US"/>
              <a:t>개 클래스</a:t>
            </a:r>
            <a:r>
              <a:rPr lang="en-US" altLang="ko-KR"/>
              <a:t>(</a:t>
            </a:r>
            <a:r>
              <a:rPr lang="ko-KR" altLang="en-US"/>
              <a:t>컨트롤러</a:t>
            </a:r>
            <a:r>
              <a:rPr lang="en-US" altLang="ko-KR"/>
              <a:t>·</a:t>
            </a:r>
            <a:r>
              <a:rPr lang="ko-KR" altLang="en-US"/>
              <a:t>예외 핸들러</a:t>
            </a:r>
            <a:r>
              <a:rPr lang="en-US" altLang="ko-KR"/>
              <a:t>·</a:t>
            </a:r>
            <a:r>
              <a:rPr lang="ko-KR" altLang="en-US"/>
              <a:t>부트 진입점</a:t>
            </a:r>
            <a:r>
              <a:rPr lang="en-US" altLang="ko-KR"/>
              <a:t>)</a:t>
            </a:r>
            <a:r>
              <a:rPr lang="ko-KR" altLang="en-US"/>
              <a:t>가 </a:t>
            </a:r>
            <a:r>
              <a:rPr lang="en-US" altLang="ko-KR"/>
              <a:t>FastAPI</a:t>
            </a:r>
            <a:r>
              <a:rPr lang="ko-KR" altLang="en-US"/>
              <a:t>에서는 함수 </a:t>
            </a:r>
            <a:r>
              <a:rPr lang="en-US" altLang="ko-KR"/>
              <a:t>1</a:t>
            </a:r>
            <a:r>
              <a:rPr lang="ko-KR" altLang="en-US"/>
              <a:t>개 </a:t>
            </a:r>
            <a:r>
              <a:rPr lang="en-US" altLang="ko-KR"/>
              <a:t>+ </a:t>
            </a:r>
            <a:r>
              <a:rPr lang="ko-KR" altLang="en-US"/>
              <a:t>데코레이터로 줄어든다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3952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04</a:t>
            </a:r>
            <a:r>
              <a:rPr lang="ko-KR" altLang="en-US"/>
              <a:t>장 비교의 요약 표 </a:t>
            </a:r>
            <a:r>
              <a:rPr lang="en-US" altLang="ko-KR"/>
              <a:t>— Python</a:t>
            </a:r>
            <a:r>
              <a:rPr lang="ko-KR" altLang="en-US"/>
              <a:t>의 이점은 클래스</a:t>
            </a:r>
            <a:r>
              <a:rPr lang="en-US" altLang="ko-KR"/>
              <a:t>·</a:t>
            </a:r>
            <a:r>
              <a:rPr lang="ko-KR" altLang="en-US"/>
              <a:t>인터페이스</a:t>
            </a:r>
            <a:r>
              <a:rPr lang="en-US" altLang="ko-KR"/>
              <a:t>·</a:t>
            </a:r>
            <a:r>
              <a:rPr lang="ko-KR" altLang="en-US"/>
              <a:t>파일을 새로 세워야 하는 곳에서 극대화된다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73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복잡성은 낭비가 아니라 투자라는 균형 잡기 </a:t>
            </a:r>
            <a:r>
              <a:rPr lang="en-US" altLang="ko-KR"/>
              <a:t>— </a:t>
            </a:r>
            <a:r>
              <a:rPr lang="ko-KR" altLang="en-US"/>
              <a:t>연구 코드가 서비스가 되어 </a:t>
            </a:r>
            <a:r>
              <a:rPr lang="en-US" altLang="ko-KR"/>
              <a:t>conda </a:t>
            </a:r>
            <a:r>
              <a:rPr lang="ko-KR" altLang="en-US"/>
              <a:t>환경이 컨테이너</a:t>
            </a:r>
            <a:r>
              <a:rPr lang="en-US" altLang="ko-KR"/>
              <a:t>·</a:t>
            </a:r>
            <a:r>
              <a:rPr lang="ko-KR" altLang="en-US"/>
              <a:t>쿠버네티스로 옮겨질 때 같은 구조</a:t>
            </a:r>
            <a:r>
              <a:rPr lang="en-US" altLang="ko-KR"/>
              <a:t>(</a:t>
            </a:r>
            <a:r>
              <a:rPr lang="ko-KR" altLang="en-US"/>
              <a:t>계층화</a:t>
            </a:r>
            <a:r>
              <a:rPr lang="en-US" altLang="ko-KR"/>
              <a:t>·</a:t>
            </a:r>
            <a:r>
              <a:rPr lang="ko-KR" altLang="en-US"/>
              <a:t>튜닝</a:t>
            </a:r>
            <a:r>
              <a:rPr lang="en-US" altLang="ko-KR"/>
              <a:t>·</a:t>
            </a:r>
            <a:r>
              <a:rPr lang="ko-KR" altLang="en-US"/>
              <a:t>타입</a:t>
            </a:r>
            <a:r>
              <a:rPr lang="en-US" altLang="ko-KR"/>
              <a:t>)</a:t>
            </a:r>
            <a:r>
              <a:rPr lang="ko-KR" altLang="en-US"/>
              <a:t>가 </a:t>
            </a:r>
            <a:r>
              <a:rPr lang="en-US" altLang="ko-KR"/>
              <a:t>Python</a:t>
            </a:r>
            <a:r>
              <a:rPr lang="ko-KR" altLang="en-US"/>
              <a:t>에도 차례로 등장한다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2934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언어마다 이름만 다른 한 가족의 버그 </a:t>
            </a:r>
            <a:r>
              <a:rPr lang="en-US" altLang="ko-KR"/>
              <a:t>— '</a:t>
            </a:r>
            <a:r>
              <a:rPr lang="ko-KR" altLang="en-US"/>
              <a:t>정의</a:t>
            </a:r>
            <a:r>
              <a:rPr lang="en-US" altLang="ko-KR"/>
              <a:t>(</a:t>
            </a:r>
            <a:r>
              <a:rPr lang="ko-KR" altLang="en-US"/>
              <a:t>초기화</a:t>
            </a:r>
            <a:r>
              <a:rPr lang="en-US" altLang="ko-KR"/>
              <a:t>)</a:t>
            </a:r>
            <a:r>
              <a:rPr lang="ko-KR" altLang="en-US"/>
              <a:t>보다 사용이 먼저</a:t>
            </a:r>
            <a:r>
              <a:rPr lang="en-US" altLang="ko-KR"/>
              <a:t>'</a:t>
            </a:r>
            <a:r>
              <a:rPr lang="ko-KR" altLang="en-US"/>
              <a:t>가 뿌리다</a:t>
            </a:r>
            <a:r>
              <a:rPr lang="en-US" altLang="ko-KR"/>
              <a:t>. </a:t>
            </a:r>
            <a:r>
              <a:rPr lang="ko-KR" altLang="en-US"/>
              <a:t>어느 단계</a:t>
            </a:r>
            <a:r>
              <a:rPr lang="en-US" altLang="ko-KR"/>
              <a:t>(</a:t>
            </a:r>
            <a:r>
              <a:rPr lang="ko-KR" altLang="en-US"/>
              <a:t>컴파일</a:t>
            </a:r>
            <a:r>
              <a:rPr lang="en-US" altLang="ko-KR"/>
              <a:t>·</a:t>
            </a:r>
            <a:r>
              <a:rPr lang="ko-KR" altLang="en-US"/>
              <a:t>링크</a:t>
            </a:r>
            <a:r>
              <a:rPr lang="en-US" altLang="ko-KR"/>
              <a:t>·</a:t>
            </a:r>
            <a:r>
              <a:rPr lang="ko-KR" altLang="en-US"/>
              <a:t>실행</a:t>
            </a:r>
            <a:r>
              <a:rPr lang="en-US" altLang="ko-KR"/>
              <a:t>)</a:t>
            </a:r>
            <a:r>
              <a:rPr lang="ko-KR" altLang="en-US"/>
              <a:t>에서 터졌는지로 원인을 좁히는 법을 강조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7343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OOM</a:t>
            </a:r>
            <a:r>
              <a:rPr lang="ko-KR" altLang="en-US"/>
              <a:t>은 이름부터 함정 </a:t>
            </a:r>
            <a:r>
              <a:rPr lang="en-US" altLang="ko-KR"/>
              <a:t>— </a:t>
            </a:r>
            <a:r>
              <a:rPr lang="ko-KR" altLang="en-US"/>
              <a:t>실제 현장은 누수</a:t>
            </a:r>
            <a:r>
              <a:rPr lang="en-US" altLang="ko-KR"/>
              <a:t>·</a:t>
            </a:r>
            <a:r>
              <a:rPr lang="ko-KR" altLang="en-US"/>
              <a:t>한도</a:t>
            </a:r>
            <a:r>
              <a:rPr lang="en-US" altLang="ko-KR"/>
              <a:t>·OOM Killer</a:t>
            </a:r>
            <a:r>
              <a:rPr lang="ko-KR" altLang="en-US"/>
              <a:t>가 대부분</a:t>
            </a:r>
            <a:r>
              <a:rPr lang="en-US" altLang="ko-KR"/>
              <a:t>. '</a:t>
            </a:r>
            <a:r>
              <a:rPr lang="ko-KR" altLang="en-US"/>
              <a:t>램 늘리기</a:t>
            </a:r>
            <a:r>
              <a:rPr lang="en-US" altLang="ko-KR"/>
              <a:t>' </a:t>
            </a:r>
            <a:r>
              <a:rPr lang="ko-KR" altLang="en-US"/>
              <a:t>전에 누수→한도→누가 죽였나 순으로 진단하라는 게 요지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982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에러명은 </a:t>
            </a:r>
            <a:r>
              <a:rPr lang="en-US" altLang="ko-KR"/>
              <a:t>'</a:t>
            </a:r>
            <a:r>
              <a:rPr lang="ko-KR" altLang="en-US"/>
              <a:t>사인</a:t>
            </a:r>
            <a:r>
              <a:rPr lang="en-US" altLang="ko-KR"/>
              <a:t>(</a:t>
            </a:r>
            <a:r>
              <a:rPr lang="ko-KR" altLang="en-US"/>
              <a:t>死因</a:t>
            </a:r>
            <a:r>
              <a:rPr lang="en-US" altLang="ko-KR"/>
              <a:t>)'</a:t>
            </a:r>
            <a:r>
              <a:rPr lang="ko-KR" altLang="en-US"/>
              <a:t>이지 </a:t>
            </a:r>
            <a:r>
              <a:rPr lang="en-US" altLang="ko-KR"/>
              <a:t>'</a:t>
            </a:r>
            <a:r>
              <a:rPr lang="ko-KR" altLang="en-US"/>
              <a:t>범인</a:t>
            </a:r>
            <a:r>
              <a:rPr lang="en-US" altLang="ko-KR"/>
              <a:t>'</a:t>
            </a:r>
            <a:r>
              <a:rPr lang="ko-KR" altLang="en-US"/>
              <a:t>이 아니다 </a:t>
            </a:r>
            <a:r>
              <a:rPr lang="en-US" altLang="ko-KR"/>
              <a:t>— </a:t>
            </a:r>
            <a:r>
              <a:rPr lang="ko-KR" altLang="en-US"/>
              <a:t>라벨은 마지막으로 잡은 계층이 붙이므로</a:t>
            </a:r>
            <a:r>
              <a:rPr lang="en-US" altLang="ko-KR"/>
              <a:t>, </a:t>
            </a:r>
            <a:r>
              <a:rPr lang="ko-KR" altLang="en-US"/>
              <a:t>라벨→범인 예측은 불가하고 역추적만 가능하다는 것이 요지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20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증상은 위층에서 보여도 원인은 아래층에 있다 </a:t>
            </a:r>
            <a:r>
              <a:rPr lang="en-US" altLang="ko-KR"/>
              <a:t>— </a:t>
            </a:r>
            <a:r>
              <a:rPr lang="ko-KR" altLang="en-US"/>
              <a:t>표의 각 행을 </a:t>
            </a:r>
            <a:r>
              <a:rPr lang="en-US" altLang="ko-KR"/>
              <a:t>'</a:t>
            </a:r>
            <a:r>
              <a:rPr lang="ko-KR" altLang="en-US"/>
              <a:t>순진한 해석 </a:t>
            </a:r>
            <a:r>
              <a:rPr lang="en-US" altLang="ko-KR"/>
              <a:t>vs </a:t>
            </a:r>
            <a:r>
              <a:rPr lang="ko-KR" altLang="en-US"/>
              <a:t>진짜 원인</a:t>
            </a:r>
            <a:r>
              <a:rPr lang="en-US" altLang="ko-KR"/>
              <a:t>'</a:t>
            </a:r>
            <a:r>
              <a:rPr lang="ko-KR" altLang="en-US"/>
              <a:t>으로 대비하며 읽는다</a:t>
            </a:r>
            <a:r>
              <a:rPr lang="en-US" altLang="ko-KR"/>
              <a:t>. AI</a:t>
            </a:r>
            <a:r>
              <a:rPr lang="ko-KR" altLang="en-US"/>
              <a:t>가 코드를 쓰는 시대일수록 아래층을 읽는 능력이 곧 디버깅 능력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2888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개념은 읽어서</a:t>
            </a:r>
            <a:r>
              <a:rPr lang="en-US" altLang="ko-KR"/>
              <a:t>, </a:t>
            </a:r>
            <a:r>
              <a:rPr lang="ko-KR" altLang="en-US"/>
              <a:t>도구는 만들어서 익힌다 </a:t>
            </a:r>
            <a:r>
              <a:rPr lang="en-US" altLang="ko-KR"/>
              <a:t>— </a:t>
            </a:r>
            <a:r>
              <a:rPr lang="ko-KR" altLang="en-US"/>
              <a:t>각 랩 </a:t>
            </a:r>
            <a:r>
              <a:rPr lang="en-US" altLang="ko-KR"/>
              <a:t>5~15</a:t>
            </a:r>
            <a:r>
              <a:rPr lang="ko-KR" altLang="en-US"/>
              <a:t>분</a:t>
            </a:r>
            <a:r>
              <a:rPr lang="en-US" altLang="ko-KR"/>
              <a:t>, </a:t>
            </a:r>
            <a:r>
              <a:rPr lang="ko-KR" altLang="en-US"/>
              <a:t>끝에 정리</a:t>
            </a:r>
            <a:r>
              <a:rPr lang="en-US" altLang="ko-KR"/>
              <a:t>(</a:t>
            </a:r>
            <a:r>
              <a:rPr lang="ko-KR" altLang="en-US"/>
              <a:t>삭제</a:t>
            </a:r>
            <a:r>
              <a:rPr lang="en-US" altLang="ko-KR"/>
              <a:t>) </a:t>
            </a:r>
            <a:r>
              <a:rPr lang="ko-KR" altLang="en-US"/>
              <a:t>단계까지</a:t>
            </a:r>
            <a:r>
              <a:rPr lang="en-US" altLang="ko-KR"/>
              <a:t>. 6</a:t>
            </a:r>
            <a:r>
              <a:rPr lang="ko-KR" altLang="en-US"/>
              <a:t>종 카드를 훑으며 이후 장들의 로드맵을 예고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2644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인터프리터도 결국 폴더 안의 실행 파일임을 확인하는 실습 </a:t>
            </a:r>
            <a:r>
              <a:rPr lang="en-US" altLang="ko-KR"/>
              <a:t>— </a:t>
            </a:r>
            <a:r>
              <a:rPr lang="ko-KR" altLang="en-US"/>
              <a:t>설치판이 해 주는 등록</a:t>
            </a:r>
            <a:r>
              <a:rPr lang="en-US" altLang="ko-KR"/>
              <a:t>(PATH·py </a:t>
            </a:r>
            <a:r>
              <a:rPr lang="ko-KR" altLang="en-US"/>
              <a:t>런처</a:t>
            </a:r>
            <a:r>
              <a:rPr lang="en-US" altLang="ko-KR"/>
              <a:t>·</a:t>
            </a:r>
            <a:r>
              <a:rPr lang="ko-KR" altLang="en-US"/>
              <a:t>레지스트리</a:t>
            </a:r>
            <a:r>
              <a:rPr lang="en-US" altLang="ko-KR"/>
              <a:t>) </a:t>
            </a:r>
            <a:r>
              <a:rPr lang="ko-KR" altLang="en-US"/>
              <a:t>없이 </a:t>
            </a:r>
            <a:r>
              <a:rPr lang="en-US" altLang="ko-KR"/>
              <a:t>embeddable zip</a:t>
            </a:r>
            <a:r>
              <a:rPr lang="ko-KR" altLang="en-US"/>
              <a:t>으로 바이너리를 직접 다룬다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665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zip</a:t>
            </a:r>
            <a:r>
              <a:rPr lang="ko-KR" altLang="en-US"/>
              <a:t>을 받아 </a:t>
            </a:r>
            <a:r>
              <a:rPr lang="en-US" altLang="ko-KR"/>
              <a:t>Expand-Archive</a:t>
            </a:r>
            <a:r>
              <a:rPr lang="ko-KR" altLang="en-US"/>
              <a:t>로 풀면 설치 과정 없이 </a:t>
            </a:r>
            <a:r>
              <a:rPr lang="en-US" altLang="ko-KR"/>
              <a:t>python.exe</a:t>
            </a:r>
            <a:r>
              <a:rPr lang="ko-KR" altLang="en-US"/>
              <a:t>가 바로 돈다 </a:t>
            </a:r>
            <a:r>
              <a:rPr lang="en-US" altLang="ko-KR"/>
              <a:t>— </a:t>
            </a:r>
            <a:r>
              <a:rPr lang="ko-KR" altLang="en-US"/>
              <a:t>폴더 하나로 완결이며</a:t>
            </a:r>
            <a:r>
              <a:rPr lang="en-US" altLang="ko-KR"/>
              <a:t>, </a:t>
            </a:r>
            <a:r>
              <a:rPr lang="ko-KR" altLang="en-US"/>
              <a:t>표준 라이브러리만 쓰는 우리 게임은 이대로 돌 준비가 끝났다</a:t>
            </a:r>
            <a:r>
              <a:rPr lang="en-US" altLang="ko-KR"/>
              <a:t>. macOS</a:t>
            </a:r>
            <a:r>
              <a:rPr lang="ko-KR" altLang="en-US"/>
              <a:t>는 단독 빌드 </a:t>
            </a:r>
            <a:r>
              <a:rPr lang="en-US" altLang="ko-KR"/>
              <a:t>tar.gz</a:t>
            </a:r>
            <a:r>
              <a:rPr lang="ko-KR" altLang="en-US"/>
              <a:t>로 같은 개념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9633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 module named</a:t>
            </a:r>
            <a:r>
              <a:rPr lang="ko-KR" altLang="en-US"/>
              <a:t>의 정체는 </a:t>
            </a:r>
            <a:r>
              <a:rPr lang="en-US" altLang="ko-KR"/>
              <a:t>sys.path </a:t>
            </a:r>
            <a:r>
              <a:rPr lang="ko-KR" altLang="en-US"/>
              <a:t>목록 문제 </a:t>
            </a:r>
            <a:r>
              <a:rPr lang="en-US" altLang="ko-KR"/>
              <a:t>— embeddable</a:t>
            </a:r>
            <a:r>
              <a:rPr lang="ko-KR" altLang="en-US"/>
              <a:t>은 </a:t>
            </a:r>
            <a:r>
              <a:rPr lang="en-US" altLang="ko-KR"/>
              <a:t>._pth</a:t>
            </a:r>
            <a:r>
              <a:rPr lang="ko-KR" altLang="en-US"/>
              <a:t>가 경로를 잠가 </a:t>
            </a:r>
            <a:r>
              <a:rPr lang="en-US" altLang="ko-KR"/>
              <a:t>PYTHONPATH</a:t>
            </a:r>
            <a:r>
              <a:rPr lang="ko-KR" altLang="en-US"/>
              <a:t>를 무시하므로 </a:t>
            </a:r>
            <a:r>
              <a:rPr lang="en-US" altLang="ko-KR"/>
              <a:t>._pth</a:t>
            </a:r>
            <a:r>
              <a:rPr lang="ko-KR" altLang="en-US"/>
              <a:t>에 경로를 추가해 해결한다</a:t>
            </a:r>
            <a:r>
              <a:rPr lang="en-US" altLang="ko-KR"/>
              <a:t>. </a:t>
            </a:r>
            <a:r>
              <a:rPr lang="ko-KR" altLang="en-US"/>
              <a:t>정리는 </a:t>
            </a:r>
            <a:r>
              <a:rPr lang="en-US" altLang="ko-KR"/>
              <a:t>Remove-Item </a:t>
            </a:r>
            <a:r>
              <a:rPr lang="ko-KR" altLang="en-US"/>
              <a:t>폴더 삭제가 끝</a:t>
            </a:r>
            <a:r>
              <a:rPr lang="en-US" altLang="ko-KR"/>
              <a:t>(</a:t>
            </a:r>
            <a:r>
              <a:rPr lang="ko-KR" altLang="en-US"/>
              <a:t>레지스트리에 아무것도 안 남겼으니까</a:t>
            </a:r>
            <a:r>
              <a:rPr lang="en-US" altLang="ko-KR"/>
              <a:t>). </a:t>
            </a:r>
            <a:r>
              <a:rPr lang="ko-KR" altLang="en-US"/>
              <a:t>발표 시 실패→성공 흐름을 코드 위에서 순서대로 짚는다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297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venv</a:t>
            </a:r>
            <a:r>
              <a:rPr lang="ko-KR" altLang="en-US"/>
              <a:t>는 프로젝트 전용 파이썬 상자 </a:t>
            </a:r>
            <a:r>
              <a:rPr lang="en-US" altLang="ko-KR"/>
              <a:t>— </a:t>
            </a:r>
            <a:r>
              <a:rPr lang="ko-KR" altLang="en-US"/>
              <a:t>활성화하면 프롬프트에 </a:t>
            </a:r>
            <a:r>
              <a:rPr lang="en-US" altLang="ko-KR"/>
              <a:t>(.venv) </a:t>
            </a:r>
            <a:r>
              <a:rPr lang="ko-KR" altLang="en-US"/>
              <a:t>접두사가 붙는다</a:t>
            </a:r>
            <a:r>
              <a:rPr lang="en-US" altLang="ko-KR"/>
              <a:t>. Windows</a:t>
            </a:r>
            <a:r>
              <a:rPr lang="ko-KR" altLang="en-US"/>
              <a:t>에서 </a:t>
            </a:r>
            <a:r>
              <a:rPr lang="en-US" altLang="ko-KR"/>
              <a:t>'</a:t>
            </a:r>
            <a:r>
              <a:rPr lang="ko-KR" altLang="en-US"/>
              <a:t>스크립트 실행 불가</a:t>
            </a:r>
            <a:r>
              <a:rPr lang="en-US" altLang="ko-KR"/>
              <a:t>' </a:t>
            </a:r>
            <a:r>
              <a:rPr lang="ko-KR" altLang="en-US"/>
              <a:t>오류가 나면 </a:t>
            </a:r>
            <a:r>
              <a:rPr lang="en-US" altLang="ko-KR"/>
              <a:t>Set-ExecutionPolicy -Scope Process Bypass</a:t>
            </a:r>
            <a:r>
              <a:rPr lang="ko-KR" altLang="en-US"/>
              <a:t>로 해결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8127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pyproject </a:t>
            </a:r>
            <a:r>
              <a:rPr lang="ko-KR" altLang="en-US"/>
              <a:t>기반</a:t>
            </a:r>
            <a:r>
              <a:rPr lang="en-US" altLang="ko-KR"/>
              <a:t>(-e, editable)</a:t>
            </a:r>
            <a:r>
              <a:rPr lang="ko-KR" altLang="en-US"/>
              <a:t>과 </a:t>
            </a:r>
            <a:r>
              <a:rPr lang="en-US" altLang="ko-KR"/>
              <a:t>requirements </a:t>
            </a:r>
            <a:r>
              <a:rPr lang="ko-KR" altLang="en-US"/>
              <a:t>기반 두 설치 경로를 보여주고</a:t>
            </a:r>
            <a:r>
              <a:rPr lang="en-US" altLang="ko-KR"/>
              <a:t>, pip freeze</a:t>
            </a:r>
            <a:r>
              <a:rPr lang="ko-KR" altLang="en-US"/>
              <a:t>로 전부 </a:t>
            </a:r>
            <a:r>
              <a:rPr lang="en-US" altLang="ko-KR"/>
              <a:t>==</a:t>
            </a:r>
            <a:r>
              <a:rPr lang="ko-KR" altLang="en-US"/>
              <a:t>로 박힌 고정 스냅샷</a:t>
            </a:r>
            <a:r>
              <a:rPr lang="en-US" altLang="ko-KR"/>
              <a:t>(lock</a:t>
            </a:r>
            <a:r>
              <a:rPr lang="ko-KR" altLang="en-US"/>
              <a:t>의 개념</a:t>
            </a:r>
            <a:r>
              <a:rPr lang="en-US" altLang="ko-KR"/>
              <a:t>)</a:t>
            </a:r>
            <a:r>
              <a:rPr lang="ko-KR" altLang="en-US"/>
              <a:t>을 만든다</a:t>
            </a:r>
            <a:r>
              <a:rPr lang="en-US" altLang="ko-KR"/>
              <a:t>. </a:t>
            </a:r>
            <a:r>
              <a:rPr lang="ko-KR" altLang="en-US"/>
              <a:t>다음 실습에서 </a:t>
            </a:r>
            <a:r>
              <a:rPr lang="en-US" altLang="ko-KR"/>
              <a:t>uv</a:t>
            </a:r>
            <a:r>
              <a:rPr lang="ko-KR" altLang="en-US"/>
              <a:t>가 이 수동 단계를 한 줄로 대신한다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3373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웹 슬라이드에서는 이 터미널이 자동 타이핑 캐스트로 재생된다</a:t>
            </a:r>
            <a:r>
              <a:rPr lang="en-US" altLang="ko-KR"/>
              <a:t>(</a:t>
            </a:r>
            <a:r>
              <a:rPr lang="ko-KR" altLang="en-US"/>
              <a:t>클릭 </a:t>
            </a:r>
            <a:r>
              <a:rPr lang="en-US" altLang="ko-KR"/>
              <a:t>= </a:t>
            </a:r>
            <a:r>
              <a:rPr lang="ko-KR" altLang="en-US"/>
              <a:t>다시 재생</a:t>
            </a:r>
            <a:r>
              <a:rPr lang="en-US" altLang="ko-KR"/>
              <a:t>) — </a:t>
            </a:r>
            <a:r>
              <a:rPr lang="ko-KR" altLang="en-US"/>
              <a:t>발표 시 웹 버전이면 클릭으로 다시 재생</a:t>
            </a:r>
            <a:r>
              <a:rPr lang="en-US" altLang="ko-KR"/>
              <a:t>. </a:t>
            </a:r>
            <a:r>
              <a:rPr lang="ko-KR" altLang="en-US"/>
              <a:t>출력은 연출이 아니라 이 저장소에서 실측한 그대로다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4227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uv add/remove</a:t>
            </a:r>
            <a:r>
              <a:rPr lang="ko-KR" altLang="en-US"/>
              <a:t>가 </a:t>
            </a:r>
            <a:r>
              <a:rPr lang="en-US" altLang="ko-KR"/>
              <a:t>pyproject</a:t>
            </a:r>
            <a:r>
              <a:rPr lang="ko-KR" altLang="en-US"/>
              <a:t>와 </a:t>
            </a:r>
            <a:r>
              <a:rPr lang="en-US" altLang="ko-KR"/>
              <a:t>uv.lock</a:t>
            </a:r>
            <a:r>
              <a:rPr lang="ko-KR" altLang="en-US"/>
              <a:t>을 짝으로 갱신하고</a:t>
            </a:r>
            <a:r>
              <a:rPr lang="en-US" altLang="ko-KR"/>
              <a:t>, uv python install</a:t>
            </a:r>
            <a:r>
              <a:rPr lang="ko-KR" altLang="en-US"/>
              <a:t>로 파이썬 버전 설치까지 </a:t>
            </a:r>
            <a:r>
              <a:rPr lang="en-US" altLang="ko-KR"/>
              <a:t>uv</a:t>
            </a:r>
            <a:r>
              <a:rPr lang="ko-KR" altLang="en-US"/>
              <a:t>가 담당한다</a:t>
            </a:r>
            <a:r>
              <a:rPr lang="en-US" altLang="ko-KR"/>
              <a:t>. uv.lock</a:t>
            </a:r>
            <a:r>
              <a:rPr lang="ko-KR" altLang="en-US"/>
              <a:t>은 커밋 대상 </a:t>
            </a:r>
            <a:r>
              <a:rPr lang="en-US" altLang="ko-KR"/>
              <a:t>— </a:t>
            </a:r>
            <a:r>
              <a:rPr lang="ko-KR" altLang="en-US"/>
              <a:t>팀 전체가 같은 조합을 재현한다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6970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poetry</a:t>
            </a:r>
            <a:r>
              <a:rPr lang="ko-KR" altLang="en-US"/>
              <a:t>는 </a:t>
            </a:r>
            <a:r>
              <a:rPr lang="en-US" altLang="ko-KR"/>
              <a:t>uv </a:t>
            </a:r>
            <a:r>
              <a:rPr lang="ko-KR" altLang="en-US"/>
              <a:t>이전부터 널리 쓰인 올인원 도구 </a:t>
            </a:r>
            <a:r>
              <a:rPr lang="en-US" altLang="ko-KR"/>
              <a:t>— </a:t>
            </a:r>
            <a:r>
              <a:rPr lang="ko-KR" altLang="en-US"/>
              <a:t>공용 </a:t>
            </a:r>
            <a:r>
              <a:rPr lang="en-US" altLang="ko-KR"/>
              <a:t>CLI</a:t>
            </a:r>
            <a:r>
              <a:rPr lang="ko-KR" altLang="en-US"/>
              <a:t>라 </a:t>
            </a:r>
            <a:r>
              <a:rPr lang="en-US" altLang="ko-KR"/>
              <a:t>pipx</a:t>
            </a:r>
            <a:r>
              <a:rPr lang="ko-KR" altLang="en-US"/>
              <a:t>로 설치하고</a:t>
            </a:r>
            <a:r>
              <a:rPr lang="en-US" altLang="ko-KR"/>
              <a:t>, poetry install/run</a:t>
            </a:r>
            <a:r>
              <a:rPr lang="ko-KR" altLang="en-US"/>
              <a:t>으로 이 저장소를 그대로 실행해 본다</a:t>
            </a:r>
            <a:r>
              <a:rPr lang="en-US" altLang="ko-KR"/>
              <a:t>. </a:t>
            </a:r>
            <a:r>
              <a:rPr lang="ko-KR" altLang="en-US"/>
              <a:t>빌드</a:t>
            </a:r>
            <a:r>
              <a:rPr lang="en-US" altLang="ko-KR"/>
              <a:t>·PyPI </a:t>
            </a:r>
            <a:r>
              <a:rPr lang="ko-KR" altLang="en-US"/>
              <a:t>배포까지 지원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188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poetry new</a:t>
            </a:r>
            <a:r>
              <a:rPr lang="ko-KR" altLang="en-US"/>
              <a:t>로 새 프로젝트를 시작하는 흐름과 캐럿</a:t>
            </a:r>
            <a:r>
              <a:rPr lang="en-US" altLang="ko-KR"/>
              <a:t>(^)·</a:t>
            </a:r>
            <a:r>
              <a:rPr lang="ko-KR" altLang="en-US"/>
              <a:t>틸데</a:t>
            </a:r>
            <a:r>
              <a:rPr lang="en-US" altLang="ko-KR"/>
              <a:t>(~) </a:t>
            </a:r>
            <a:r>
              <a:rPr lang="ko-KR" altLang="en-US"/>
              <a:t>버전 표기</a:t>
            </a:r>
            <a:r>
              <a:rPr lang="en-US" altLang="ko-KR"/>
              <a:t>. </a:t>
            </a:r>
            <a:r>
              <a:rPr lang="ko-KR" altLang="en-US"/>
              <a:t>캐럿이 </a:t>
            </a:r>
            <a:r>
              <a:rPr lang="en-US" altLang="ko-KR"/>
              <a:t>poetry add</a:t>
            </a:r>
            <a:r>
              <a:rPr lang="ko-KR" altLang="en-US"/>
              <a:t>의 기본 </a:t>
            </a:r>
            <a:r>
              <a:rPr lang="en-US" altLang="ko-KR"/>
              <a:t>— '</a:t>
            </a:r>
            <a:r>
              <a:rPr lang="ko-KR" altLang="en-US"/>
              <a:t>고정 </a:t>
            </a:r>
            <a:r>
              <a:rPr lang="en-US" altLang="ko-KR"/>
              <a:t>vs </a:t>
            </a:r>
            <a:r>
              <a:rPr lang="ko-KR" altLang="en-US"/>
              <a:t>범위</a:t>
            </a:r>
            <a:r>
              <a:rPr lang="en-US" altLang="ko-KR"/>
              <a:t>' </a:t>
            </a:r>
            <a:r>
              <a:rPr lang="ko-KR" altLang="en-US"/>
              <a:t>장에서 본 범위 전략이 기본값이라는 점을 짚는다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7939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conda</a:t>
            </a:r>
            <a:r>
              <a:rPr lang="ko-KR" altLang="en-US"/>
              <a:t>는 </a:t>
            </a:r>
            <a:r>
              <a:rPr lang="en-US" altLang="ko-KR"/>
              <a:t>PyTorch·CUDA·MKL </a:t>
            </a:r>
            <a:r>
              <a:rPr lang="ko-KR" altLang="en-US"/>
              <a:t>같은 네이티브 스택 때문에 </a:t>
            </a:r>
            <a:r>
              <a:rPr lang="en-US" altLang="ko-KR"/>
              <a:t>AI/ML </a:t>
            </a:r>
            <a:r>
              <a:rPr lang="ko-KR" altLang="en-US"/>
              <a:t>연구 환경의 사실상 표준</a:t>
            </a:r>
            <a:r>
              <a:rPr lang="en-US" altLang="ko-KR"/>
              <a:t>. pip/uv</a:t>
            </a:r>
            <a:r>
              <a:rPr lang="ko-KR" altLang="en-US"/>
              <a:t>와의 차이를 표로 대비하고</a:t>
            </a:r>
            <a:r>
              <a:rPr lang="en-US" altLang="ko-KR"/>
              <a:t>, </a:t>
            </a:r>
            <a:r>
              <a:rPr lang="ko-KR" altLang="en-US"/>
              <a:t>여기서 익히는 흐름이 그대로 </a:t>
            </a:r>
            <a:r>
              <a:rPr lang="en-US" altLang="ko-KR"/>
              <a:t>GPU </a:t>
            </a:r>
            <a:r>
              <a:rPr lang="ko-KR" altLang="en-US"/>
              <a:t>환경 세팅으로 이어진다는 점을 강조한다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7381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Miniconda </a:t>
            </a:r>
            <a:r>
              <a:rPr lang="ko-KR" altLang="en-US"/>
              <a:t>설치 후 </a:t>
            </a:r>
            <a:r>
              <a:rPr lang="en-US" altLang="ko-KR"/>
              <a:t>conda create → activate → pip install → remove </a:t>
            </a:r>
            <a:r>
              <a:rPr lang="ko-KR" altLang="en-US"/>
              <a:t>한 사이클을 돈다</a:t>
            </a:r>
            <a:r>
              <a:rPr lang="en-US" altLang="ko-KR"/>
              <a:t>. </a:t>
            </a:r>
            <a:r>
              <a:rPr lang="ko-KR" altLang="en-US"/>
              <a:t>원칙은 </a:t>
            </a:r>
            <a:r>
              <a:rPr lang="en-US" altLang="ko-KR"/>
              <a:t>conda</a:t>
            </a:r>
            <a:r>
              <a:rPr lang="ko-KR" altLang="en-US"/>
              <a:t>에 있으면 </a:t>
            </a:r>
            <a:r>
              <a:rPr lang="en-US" altLang="ko-KR"/>
              <a:t>conda</a:t>
            </a:r>
            <a:r>
              <a:rPr lang="ko-KR" altLang="en-US"/>
              <a:t>로</a:t>
            </a:r>
            <a:r>
              <a:rPr lang="en-US" altLang="ko-KR"/>
              <a:t>, </a:t>
            </a:r>
            <a:r>
              <a:rPr lang="ko-KR" altLang="en-US"/>
              <a:t>없는 것만 </a:t>
            </a:r>
            <a:r>
              <a:rPr lang="en-US" altLang="ko-KR"/>
              <a:t>pip</a:t>
            </a:r>
            <a:r>
              <a:rPr lang="ko-KR" altLang="en-US"/>
              <a:t>으로 </a:t>
            </a:r>
            <a:r>
              <a:rPr lang="en-US" altLang="ko-KR"/>
              <a:t>— GPU </a:t>
            </a:r>
            <a:r>
              <a:rPr lang="ko-KR" altLang="en-US"/>
              <a:t>세팅</a:t>
            </a:r>
            <a:r>
              <a:rPr lang="en-US" altLang="ko-KR"/>
              <a:t>(pytorch-cuda)</a:t>
            </a:r>
            <a:r>
              <a:rPr lang="ko-KR" altLang="en-US"/>
              <a:t>도 같은 흐름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2681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uvicorn </a:t>
            </a:r>
            <a:r>
              <a:rPr lang="ko-KR" altLang="en-US"/>
              <a:t>개발 서버를 </a:t>
            </a:r>
            <a:r>
              <a:rPr lang="en-US" altLang="ko-KR"/>
              <a:t>--reload</a:t>
            </a:r>
            <a:r>
              <a:rPr lang="ko-KR" altLang="en-US"/>
              <a:t>로 띄우고 </a:t>
            </a:r>
            <a:r>
              <a:rPr lang="en-US" altLang="ko-KR"/>
              <a:t>curl</a:t>
            </a:r>
            <a:r>
              <a:rPr lang="ko-KR" altLang="en-US"/>
              <a:t>로 정상 응답</a:t>
            </a:r>
            <a:r>
              <a:rPr lang="en-US" altLang="ko-KR"/>
              <a:t>(DRAW)</a:t>
            </a:r>
            <a:r>
              <a:rPr lang="ko-KR" altLang="en-US"/>
              <a:t>과 </a:t>
            </a:r>
            <a:r>
              <a:rPr lang="en-US" altLang="ko-KR"/>
              <a:t>400 </a:t>
            </a:r>
            <a:r>
              <a:rPr lang="ko-KR" altLang="en-US"/>
              <a:t>오류를 직접 확인한다</a:t>
            </a:r>
            <a:r>
              <a:rPr lang="en-US" altLang="ko-KR"/>
              <a:t>. </a:t>
            </a:r>
            <a:r>
              <a:rPr lang="ko-KR" altLang="en-US"/>
              <a:t>브라우저에서 </a:t>
            </a:r>
            <a:r>
              <a:rPr lang="en-US" altLang="ko-KR"/>
              <a:t>/docs</a:t>
            </a:r>
            <a:r>
              <a:rPr lang="ko-KR" altLang="en-US"/>
              <a:t>를 열면 </a:t>
            </a:r>
            <a:r>
              <a:rPr lang="en-US" altLang="ko-KR"/>
              <a:t>Swagger </a:t>
            </a:r>
            <a:r>
              <a:rPr lang="ko-KR" altLang="en-US"/>
              <a:t>자동 문서 </a:t>
            </a:r>
            <a:r>
              <a:rPr lang="en-US" altLang="ko-KR"/>
              <a:t>— </a:t>
            </a:r>
            <a:r>
              <a:rPr lang="ko-KR" altLang="en-US"/>
              <a:t>프레임워크와 서버가 분리된 파이썬 웹 문화도 짚는다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4805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gunicorn </a:t>
            </a:r>
            <a:r>
              <a:rPr lang="ko-KR" altLang="en-US"/>
              <a:t>멀티워커 운영은 유닉스 전용</a:t>
            </a:r>
            <a:r>
              <a:rPr lang="en-US" altLang="ko-KR"/>
              <a:t>(fcntl) — Windows</a:t>
            </a:r>
            <a:r>
              <a:rPr lang="ko-KR" altLang="en-US"/>
              <a:t>는 </a:t>
            </a:r>
            <a:r>
              <a:rPr lang="en-US" altLang="ko-KR"/>
              <a:t>WSL·Docker</a:t>
            </a:r>
            <a:r>
              <a:rPr lang="ko-KR" altLang="en-US"/>
              <a:t>로 맞춘다</a:t>
            </a:r>
            <a:r>
              <a:rPr lang="en-US" altLang="ko-KR"/>
              <a:t>. </a:t>
            </a:r>
            <a:r>
              <a:rPr lang="ko-KR" altLang="en-US"/>
              <a:t>실제 배포는 대개 리눅스 컨테이너이고</a:t>
            </a:r>
            <a:r>
              <a:rPr lang="en-US" altLang="ko-KR"/>
              <a:t>, Dockerfile CMD</a:t>
            </a:r>
            <a:r>
              <a:rPr lang="ko-KR" altLang="en-US"/>
              <a:t>가 </a:t>
            </a:r>
            <a:r>
              <a:rPr lang="en-US" altLang="ko-KR"/>
              <a:t>UvicornWorker</a:t>
            </a:r>
            <a:r>
              <a:rPr lang="ko-KR" altLang="en-US"/>
              <a:t>로 서비스를 띄운다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734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클론</a:t>
            </a:r>
            <a:r>
              <a:rPr lang="en-US" altLang="ko-KR"/>
              <a:t>-</a:t>
            </a:r>
            <a:r>
              <a:rPr lang="ko-KR" altLang="en-US"/>
              <a:t>실행 시퀀스로 마무리</a:t>
            </a:r>
            <a:r>
              <a:rPr lang="en-US" altLang="ko-KR"/>
              <a:t>. </a:t>
            </a:r>
            <a:r>
              <a:rPr lang="ko-KR" altLang="en-US"/>
              <a:t>과제 </a:t>
            </a:r>
            <a:r>
              <a:rPr lang="en-US" altLang="ko-KR"/>
              <a:t>3</a:t>
            </a:r>
            <a:r>
              <a:rPr lang="ko-KR" altLang="en-US"/>
              <a:t>종 안내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C875-EB53-4559-8DB0-F48A55AF4AAA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3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60742-1433-B1A7-024E-06A916760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FAF90E-C41B-7146-1D67-A4CD2CC4A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34071-267D-B368-15FD-C78596FB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E54F6-8276-8BA4-EF8C-321C2C26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2A381-3886-2474-4475-3FC616FA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56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6A4966-7288-F702-CED1-A2BFDF4B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5990C5-CC45-28A2-F140-C95288D56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2EFBA-E961-F862-4363-D0A59C30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99A9A-B40B-6404-9A94-385A44D4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4BD67-B506-148B-9EA9-CD475754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40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A35B1-BD28-CDA6-F12C-2D501A31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1FD159-25B3-2CED-4212-DD3C688D1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F4E4A-3B5B-C99F-A64D-E4A23FD3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E9381-5C32-7B8F-C3DB-AD3DF819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ADFC5E-0BDF-0DCC-1C95-DC92833B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80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4C998-8CFC-3646-AC7C-8AC14670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09F87-F4DA-5A56-D983-9D1803A07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7987DB-D1B6-4DF9-FC43-52C964B15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04310B-4981-116F-503B-BBB655C2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086A3F-7014-1F55-7580-3D126D83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2D2A0A-BF3C-8603-4CA3-2C757925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BFD14-A283-3423-9B70-64E0EC59F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7AA189-5FB1-65B4-24A4-A2C53439B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213D6A-B36B-1409-4E68-58A5DFB7F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7B44A1-457C-1229-0AA8-8941FD53C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EE9E01-4568-055F-6019-75D0256B5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0FA203-A77A-7890-5034-225FAAC4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2AF0C7-F0B0-6B62-F949-1341A834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C29FEB-C6A5-B217-85DB-72E7A74D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6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718A0-A3A1-0B22-81EA-3B6521A4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C82865-0632-F314-19A4-77987981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0424E6-EEC5-3F70-54D1-B7DA5814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C47C84-A1A3-5CB5-3285-D59FB4E9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59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B019C3-F7E8-0124-2A87-C01CDDB5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A04550-2438-0503-E9FA-CFD15156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014FF8-906D-6596-94DB-CD308F1D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2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E4E4C-97BC-4FEF-FD24-54ECF705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B2A2F2-95A2-B864-7B71-D8E8CBCC7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11BCE-622A-0335-F185-AAAC5ED93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0B4E75-9F67-AED2-B9CA-44033781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0281AE-87B1-E093-D30D-9A4493CB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EA151F-6618-9D28-BF59-3DC997C5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761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F3536-6FD4-E25B-DF64-36728431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608AE0-8435-B5FF-C029-B8F00D1A0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E11D47-D2E3-1814-006B-0FD3D38E4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9976B3-4C46-5F0B-651E-B8156842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2CC4F9-5CE3-CB6A-D395-17B22E82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E685D4-A1C2-F5FA-E065-1B60F29F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E37D6-F548-4DCB-6D99-8BD3A541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C408CB-5FE1-DAD0-5915-77B61F545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3571C-A841-1842-E66B-24B563B0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516A0-05A0-CC30-FBF7-4ECDA7C9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A451F-B9FF-5065-A9AD-177EE4E3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27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9EBFD1-D0DE-7D63-EED7-E5C5C1FD5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04F3D4-2FB6-03F8-DB42-1925242BE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902D1-FC79-5645-9EBE-6D4A7BAB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436BDD-5F79-BE16-420A-C773D8596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5F10C-6C9B-CA9C-B9A8-589857A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8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A97EA20-7461-920F-86AA-5A2A7FFF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7F49EF-B34C-6970-D8FF-5ECFABD07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34CB9-8801-7DA8-23F9-2B657E01B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57CE9-0C61-4C6B-BAFE-3815056DC84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A412C2-1DBA-A2B4-0BD3-A1DD74BC2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46A92-C4FA-EB53-05EF-91B554F4A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18A14-3F5D-4909-ABF8-270763747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3" Type="http://schemas.openxmlformats.org/officeDocument/2006/relationships/slide" Target="slide4.xml"/><Relationship Id="rId7" Type="http://schemas.openxmlformats.org/officeDocument/2006/relationships/slide" Target="slide3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9.xml"/><Relationship Id="rId5" Type="http://schemas.openxmlformats.org/officeDocument/2006/relationships/slide" Target="slide17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ands">
            <a:extLst>
              <a:ext uri="{FF2B5EF4-FFF2-40B4-BE49-F238E27FC236}">
                <a16:creationId xmlns:a16="http://schemas.microsoft.com/office/drawing/2014/main" id="{DB65872E-9529-C3E2-2A15-696EA91DEF41}"/>
              </a:ext>
            </a:extLst>
          </p:cNvPr>
          <p:cNvSpPr txBox="1"/>
          <p:nvPr/>
        </p:nvSpPr>
        <p:spPr>
          <a:xfrm>
            <a:off x="711200" y="1143000"/>
            <a:ext cx="635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5400">
                <a:solidFill>
                  <a:srgbClr val="23262D"/>
                </a:solidFill>
                <a:latin typeface="Segoe UI" panose="020B0502040204020203" pitchFamily="34" charset="0"/>
              </a:rPr>
              <a:t>✊ ✋ ✌️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238D2E-9D95-53BE-449E-FB50538B2651}"/>
              </a:ext>
            </a:extLst>
          </p:cNvPr>
          <p:cNvSpPr/>
          <p:nvPr/>
        </p:nvSpPr>
        <p:spPr>
          <a:xfrm>
            <a:off x="711200" y="24130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C6211-4CF4-1F3A-E30D-82F6E6058F92}"/>
              </a:ext>
            </a:extLst>
          </p:cNvPr>
          <p:cNvSpPr txBox="1"/>
          <p:nvPr/>
        </p:nvSpPr>
        <p:spPr>
          <a:xfrm>
            <a:off x="1092200" y="23241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강의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BB058-69A3-B651-A0DE-7B893AF6C46C}"/>
              </a:ext>
            </a:extLst>
          </p:cNvPr>
          <p:cNvSpPr txBox="1"/>
          <p:nvPr/>
        </p:nvSpPr>
        <p:spPr>
          <a:xfrm>
            <a:off x="711200" y="2641600"/>
            <a:ext cx="9652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23262D"/>
                </a:solidFill>
                <a:latin typeface="Segoe UI" panose="020B0502040204020203" pitchFamily="34" charset="0"/>
              </a:rPr>
              <a:t>가위바위보로 배우는</a:t>
            </a:r>
          </a:p>
          <a:p>
            <a:r>
              <a:rPr lang="en-US" altLang="ko-KR" sz="4400" b="1">
                <a:solidFill>
                  <a:srgbClr val="23262D"/>
                </a:solidFill>
                <a:latin typeface="Segoe UI" panose="020B0502040204020203" pitchFamily="34" charset="0"/>
              </a:rPr>
              <a:t>CS &amp; Python</a:t>
            </a:r>
            <a:endParaRPr lang="ko-KR" altLang="en-US" sz="4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F10C9-87D7-C4C1-8F3C-3D26787BE572}"/>
              </a:ext>
            </a:extLst>
          </p:cNvPr>
          <p:cNvSpPr txBox="1"/>
          <p:nvPr/>
        </p:nvSpPr>
        <p:spPr>
          <a:xfrm>
            <a:off x="711200" y="4191000"/>
            <a:ext cx="914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같은 가위바위보를 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Java · C++ · Python </a:t>
            </a:r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세 언어로 만들어 보며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컴퓨터가 코드를 실행하는 원리부터 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Python </a:t>
            </a:r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환경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문법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500">
                <a:solidFill>
                  <a:srgbClr val="5B6270"/>
                </a:solidFill>
                <a:latin typeface="Segoe UI" panose="020B0502040204020203" pitchFamily="34" charset="0"/>
              </a:rPr>
              <a:t>언어별 무게 차이까지 익힌다</a:t>
            </a:r>
            <a:r>
              <a:rPr lang="en-US" altLang="ko-KR" sz="15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2EDC3-AD3C-26C2-2487-FF4655F57FB0}"/>
              </a:ext>
            </a:extLst>
          </p:cNvPr>
          <p:cNvSpPr txBox="1"/>
          <p:nvPr/>
        </p:nvSpPr>
        <p:spPr>
          <a:xfrm>
            <a:off x="711200" y="5334000"/>
            <a:ext cx="965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5B6270"/>
                </a:solidFill>
                <a:latin typeface="Consolas" panose="020B0609020204030204" pitchFamily="49" charset="0"/>
              </a:rPr>
              <a:t>Java Spring Boot   ·   C++20 CLI   ·   Python 3.11+   ·   </a:t>
            </a:r>
            <a:r>
              <a:rPr lang="ko-KR" altLang="en-US" sz="1200">
                <a:solidFill>
                  <a:srgbClr val="5B6270"/>
                </a:solidFill>
                <a:latin typeface="Consolas" panose="020B0609020204030204" pitchFamily="49" charset="0"/>
              </a:rPr>
              <a:t>코딩 입문</a:t>
            </a:r>
            <a:r>
              <a:rPr lang="en-US" altLang="ko-KR" sz="1200">
                <a:solidFill>
                  <a:srgbClr val="5B627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200">
                <a:solidFill>
                  <a:srgbClr val="5B6270"/>
                </a:solidFill>
                <a:latin typeface="Consolas" panose="020B0609020204030204" pitchFamily="49" charset="0"/>
              </a:rPr>
              <a:t>기초 전제 없음</a:t>
            </a:r>
          </a:p>
        </p:txBody>
      </p:sp>
    </p:spTree>
    <p:extLst>
      <p:ext uri="{BB962C8B-B14F-4D97-AF65-F5344CB8AC3E}">
        <p14:creationId xmlns:p14="http://schemas.microsoft.com/office/powerpoint/2010/main" val="959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28030A-6744-391B-64A9-CCEAAF73B15F}"/>
              </a:ext>
            </a:extLst>
          </p:cNvPr>
          <p:cNvSpPr/>
          <p:nvPr/>
        </p:nvSpPr>
        <p:spPr>
          <a:xfrm>
            <a:off x="711200" y="1905000"/>
            <a:ext cx="5969000" cy="2029707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A4C58-7F40-F1EF-6B1C-495A6D30022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24868-366B-28A7-E7A9-7AE55DC5F27F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이 강의의 논지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0DA6C-8FBA-4EBC-1D98-40166FD3DA8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Code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를 이해한다는 것</a:t>
            </a:r>
          </a:p>
        </p:txBody>
      </p:sp>
      <p:sp>
        <p:nvSpPr>
          <p:cNvPr id="5" name="!!hands">
            <a:extLst>
              <a:ext uri="{FF2B5EF4-FFF2-40B4-BE49-F238E27FC236}">
                <a16:creationId xmlns:a16="http://schemas.microsoft.com/office/drawing/2014/main" id="{28DA1DBF-E963-69CD-D259-48B39CF4B7D3}"/>
              </a:ext>
            </a:extLst>
          </p:cNvPr>
          <p:cNvSpPr txBox="1"/>
          <p:nvPr/>
        </p:nvSpPr>
        <p:spPr>
          <a:xfrm>
            <a:off x="10414000" y="381000"/>
            <a:ext cx="114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5B6270"/>
                </a:solidFill>
                <a:latin typeface="Segoe UI" panose="020B0502040204020203" pitchFamily="34" charset="0"/>
              </a:rPr>
              <a:t>✊✋✌️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CA975-F547-E7A4-09C4-D53C6AB32662}"/>
              </a:ext>
            </a:extLst>
          </p:cNvPr>
          <p:cNvSpPr txBox="1"/>
          <p:nvPr/>
        </p:nvSpPr>
        <p:spPr>
          <a:xfrm>
            <a:off x="711200" y="12192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프롬프트 엔지니어링 시대에도 코딩을 배우는 이유 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이 코드에는 버그가 하나 있다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코드를 모르면 이 버그를 못 찾는다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4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59B4-58B8-BEBB-1C18-E1971BB5BD63}"/>
              </a:ext>
            </a:extLst>
          </p:cNvPr>
          <p:cNvSpPr txBox="1"/>
          <p:nvPr/>
        </p:nvSpPr>
        <p:spPr>
          <a:xfrm>
            <a:off x="838200" y="2260600"/>
            <a:ext cx="4001095" cy="14963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for (int i=0; i&lt;365; i++) {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하루 단위로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money++;               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매일 돈을 번다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-&gt; OK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age++;                    // ???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if (age &gt; 30)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changeJOB(PhD);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5CBBF-E506-3F5F-C553-1F907EAF1AAF}"/>
              </a:ext>
            </a:extLst>
          </p:cNvPr>
          <p:cNvSpPr txBox="1"/>
          <p:nvPr/>
        </p:nvSpPr>
        <p:spPr>
          <a:xfrm>
            <a:off x="838200" y="19558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life.c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인생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년</a:t>
            </a:r>
          </a:p>
        </p:txBody>
      </p:sp>
      <p:sp>
        <p:nvSpPr>
          <p:cNvPr id="10" name="revealBtn">
            <a:extLst>
              <a:ext uri="{FF2B5EF4-FFF2-40B4-BE49-F238E27FC236}">
                <a16:creationId xmlns:a16="http://schemas.microsoft.com/office/drawing/2014/main" id="{0C802A41-1689-5FDB-BBCA-7AFE445B35AE}"/>
              </a:ext>
            </a:extLst>
          </p:cNvPr>
          <p:cNvSpPr/>
          <p:nvPr/>
        </p:nvSpPr>
        <p:spPr>
          <a:xfrm>
            <a:off x="7493000" y="2032000"/>
            <a:ext cx="3048000" cy="558800"/>
          </a:xfrm>
          <a:prstGeom prst="round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버그를 찾아보세요</a:t>
            </a:r>
          </a:p>
        </p:txBody>
      </p:sp>
      <p:grpSp>
        <p:nvGrpSpPr>
          <p:cNvPr id="13" name="bugReveal">
            <a:extLst>
              <a:ext uri="{FF2B5EF4-FFF2-40B4-BE49-F238E27FC236}">
                <a16:creationId xmlns:a16="http://schemas.microsoft.com/office/drawing/2014/main" id="{7A6B801B-B71B-5A25-BFB1-EBA8AA2F6E00}"/>
              </a:ext>
            </a:extLst>
          </p:cNvPr>
          <p:cNvGrpSpPr/>
          <p:nvPr/>
        </p:nvGrpSpPr>
        <p:grpSpPr>
          <a:xfrm>
            <a:off x="812800" y="2757061"/>
            <a:ext cx="10490200" cy="806380"/>
            <a:chOff x="812800" y="2757061"/>
            <a:chExt cx="10490200" cy="806380"/>
          </a:xfrm>
        </p:grpSpPr>
        <p:sp>
          <p:nvSpPr>
            <p:cNvPr id="11" name="bugHl">
              <a:extLst>
                <a:ext uri="{FF2B5EF4-FFF2-40B4-BE49-F238E27FC236}">
                  <a16:creationId xmlns:a16="http://schemas.microsoft.com/office/drawing/2014/main" id="{0A041383-D358-7BD6-892B-09486EFE9C34}"/>
                </a:ext>
              </a:extLst>
            </p:cNvPr>
            <p:cNvSpPr/>
            <p:nvPr/>
          </p:nvSpPr>
          <p:spPr>
            <a:xfrm>
              <a:off x="812800" y="2757061"/>
              <a:ext cx="5740400" cy="254000"/>
            </a:xfrm>
            <a:prstGeom prst="rect">
              <a:avLst/>
            </a:prstGeom>
            <a:solidFill>
              <a:srgbClr val="E5645E">
                <a:alpha val="28000"/>
              </a:srgbClr>
            </a:solidFill>
            <a:ln>
              <a:solidFill>
                <a:srgbClr val="E564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bugAns">
              <a:extLst>
                <a:ext uri="{FF2B5EF4-FFF2-40B4-BE49-F238E27FC236}">
                  <a16:creationId xmlns:a16="http://schemas.microsoft.com/office/drawing/2014/main" id="{AB9DD005-10A8-A2B0-BB4E-E41829DA1D32}"/>
                </a:ext>
              </a:extLst>
            </p:cNvPr>
            <p:cNvSpPr txBox="1"/>
            <p:nvPr/>
          </p:nvSpPr>
          <p:spPr>
            <a:xfrm>
              <a:off x="7493000" y="2794000"/>
              <a:ext cx="3810000" cy="76944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age++ 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가 하루 루프 안에 있다 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— 1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년에 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365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살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. 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한 달이면 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30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을 넘겨 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changeJOB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이 엉뚱한 시점에 발동한다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. 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수정은 한 줄 이동이 아니라 바깥에 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'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해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(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年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)' </a:t>
              </a:r>
              <a:r>
                <a:rPr lang="ko-KR" altLang="en-US" sz="1250">
                  <a:solidFill>
                    <a:srgbClr val="23262D"/>
                  </a:solidFill>
                  <a:latin typeface="Segoe UI" panose="020B0502040204020203" pitchFamily="34" charset="0"/>
                </a:rPr>
                <a:t>루프가 하나 더 필요하다</a:t>
              </a:r>
              <a:r>
                <a:rPr lang="en-US" altLang="ko-KR" sz="1250">
                  <a:solidFill>
                    <a:srgbClr val="23262D"/>
                  </a:solidFill>
                  <a:latin typeface="Segoe UI" panose="020B0502040204020203" pitchFamily="34" charset="0"/>
                </a:rPr>
                <a:t>.</a:t>
              </a:r>
              <a:endParaRPr lang="ko-KR" altLang="en-US" sz="1250">
                <a:solidFill>
                  <a:srgbClr val="23262D"/>
                </a:solidFill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3389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A9661C1-7A23-2B61-1984-1492373768A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0D426-BFB5-0B82-D5A4-3F5DA7D17E09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커리큘럼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C87A1-AC59-DA8C-DA14-E57DA80966DA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무엇을 배우나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문서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5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편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실습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6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종</a:t>
            </a:r>
          </a:p>
        </p:txBody>
      </p:sp>
      <p:sp>
        <p:nvSpPr>
          <p:cNvPr id="5" name="!!hands">
            <a:extLst>
              <a:ext uri="{FF2B5EF4-FFF2-40B4-BE49-F238E27FC236}">
                <a16:creationId xmlns:a16="http://schemas.microsoft.com/office/drawing/2014/main" id="{DC8D67F4-AF60-D8C9-383F-1991D4A3C2CF}"/>
              </a:ext>
            </a:extLst>
          </p:cNvPr>
          <p:cNvSpPr txBox="1"/>
          <p:nvPr/>
        </p:nvSpPr>
        <p:spPr>
          <a:xfrm>
            <a:off x="10414000" y="3810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✊✋✌️</a:t>
            </a:r>
          </a:p>
        </p:txBody>
      </p:sp>
      <p:sp>
        <p:nvSpPr>
          <p:cNvPr id="6" name="cardLink0">
            <a:hlinkClick r:id="rId3" action="ppaction://hlinksldjump"/>
            <a:extLst>
              <a:ext uri="{FF2B5EF4-FFF2-40B4-BE49-F238E27FC236}">
                <a16:creationId xmlns:a16="http://schemas.microsoft.com/office/drawing/2014/main" id="{38D0B90E-CDE7-EF6C-ECE3-A0CEC7F37787}"/>
              </a:ext>
            </a:extLst>
          </p:cNvPr>
          <p:cNvSpPr/>
          <p:nvPr/>
        </p:nvSpPr>
        <p:spPr>
          <a:xfrm>
            <a:off x="711200" y="1498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CC03401-0E79-C986-CD90-FF2EB6B7289F}"/>
              </a:ext>
            </a:extLst>
          </p:cNvPr>
          <p:cNvSpPr/>
          <p:nvPr/>
        </p:nvSpPr>
        <p:spPr>
          <a:xfrm>
            <a:off x="889000" y="1701800"/>
            <a:ext cx="101600" cy="101600"/>
          </a:xfrm>
          <a:prstGeom prst="ellipse">
            <a:avLst/>
          </a:prstGeom>
          <a:solidFill>
            <a:srgbClr val="E0A4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A8777-A874-BD6C-EAD5-00B142C4AE68}"/>
              </a:ext>
            </a:extLst>
          </p:cNvPr>
          <p:cNvSpPr txBox="1"/>
          <p:nvPr/>
        </p:nvSpPr>
        <p:spPr>
          <a:xfrm>
            <a:off x="1092200" y="1625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081AD-4F46-4B33-4709-ECB5A4A19AD2}"/>
              </a:ext>
            </a:extLst>
          </p:cNvPr>
          <p:cNvSpPr txBox="1"/>
          <p:nvPr/>
        </p:nvSpPr>
        <p:spPr>
          <a:xfrm>
            <a:off x="889000" y="1955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컴파일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인터프리터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타입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메모리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(GC)</a:t>
            </a:r>
            <a:endParaRPr lang="ko-KR" altLang="en-US" sz="11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ardLink1">
            <a:hlinkClick r:id="rId4" action="ppaction://hlinksldjump"/>
            <a:extLst>
              <a:ext uri="{FF2B5EF4-FFF2-40B4-BE49-F238E27FC236}">
                <a16:creationId xmlns:a16="http://schemas.microsoft.com/office/drawing/2014/main" id="{66C2103F-42B3-A10A-77C6-D9EF592DCC6E}"/>
              </a:ext>
            </a:extLst>
          </p:cNvPr>
          <p:cNvSpPr/>
          <p:nvPr/>
        </p:nvSpPr>
        <p:spPr>
          <a:xfrm>
            <a:off x="4368800" y="1498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E732427-77A9-B9D1-8AFD-B96CA61F87B2}"/>
              </a:ext>
            </a:extLst>
          </p:cNvPr>
          <p:cNvSpPr/>
          <p:nvPr/>
        </p:nvSpPr>
        <p:spPr>
          <a:xfrm>
            <a:off x="4546600" y="1701800"/>
            <a:ext cx="101600" cy="101600"/>
          </a:xfrm>
          <a:prstGeom prst="ellipse">
            <a:avLst/>
          </a:prstGeom>
          <a:solidFill>
            <a:srgbClr val="33A7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F0A6D-DE5E-1DB5-0816-1EFA8CD194C4}"/>
              </a:ext>
            </a:extLst>
          </p:cNvPr>
          <p:cNvSpPr txBox="1"/>
          <p:nvPr/>
        </p:nvSpPr>
        <p:spPr>
          <a:xfrm>
            <a:off x="4749800" y="1625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02 · Python 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환경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F2450-3274-3C13-06CA-7216FA679AAB}"/>
              </a:ext>
            </a:extLst>
          </p:cNvPr>
          <p:cNvSpPr txBox="1"/>
          <p:nvPr/>
        </p:nvSpPr>
        <p:spPr>
          <a:xfrm>
            <a:off x="4546600" y="1955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venv · uv · conda · poetry · pinning</a:t>
            </a:r>
            <a:endParaRPr lang="ko-KR" altLang="en-US" sz="11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rdLink2">
            <a:hlinkClick r:id="rId5" action="ppaction://hlinksldjump"/>
            <a:extLst>
              <a:ext uri="{FF2B5EF4-FFF2-40B4-BE49-F238E27FC236}">
                <a16:creationId xmlns:a16="http://schemas.microsoft.com/office/drawing/2014/main" id="{1C3C0BF2-A055-69C6-8F26-480944DE7536}"/>
              </a:ext>
            </a:extLst>
          </p:cNvPr>
          <p:cNvSpPr/>
          <p:nvPr/>
        </p:nvSpPr>
        <p:spPr>
          <a:xfrm>
            <a:off x="8026400" y="1498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6D3F39B-37A1-AC9F-43D2-1C2878CD01E5}"/>
              </a:ext>
            </a:extLst>
          </p:cNvPr>
          <p:cNvSpPr/>
          <p:nvPr/>
        </p:nvSpPr>
        <p:spPr>
          <a:xfrm>
            <a:off x="8204200" y="1701800"/>
            <a:ext cx="101600" cy="1016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99C5B-9232-414D-284E-FC29C1F57855}"/>
              </a:ext>
            </a:extLst>
          </p:cNvPr>
          <p:cNvSpPr txBox="1"/>
          <p:nvPr/>
        </p:nvSpPr>
        <p:spPr>
          <a:xfrm>
            <a:off x="8407400" y="1625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03 · Python 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문법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7EBB33-74A3-D5D6-8617-CCEA78DEC3CD}"/>
              </a:ext>
            </a:extLst>
          </p:cNvPr>
          <p:cNvSpPr txBox="1"/>
          <p:nvPr/>
        </p:nvSpPr>
        <p:spPr>
          <a:xfrm>
            <a:off x="8204200" y="1955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변수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함수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클래스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던더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Pydantic</a:t>
            </a:r>
            <a:endParaRPr lang="ko-KR" altLang="en-US" sz="11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cardLink3">
            <a:hlinkClick r:id="rId6" action="ppaction://hlinksldjump"/>
            <a:extLst>
              <a:ext uri="{FF2B5EF4-FFF2-40B4-BE49-F238E27FC236}">
                <a16:creationId xmlns:a16="http://schemas.microsoft.com/office/drawing/2014/main" id="{17C4A0EA-11B8-9E70-D392-721A4AD5DA04}"/>
              </a:ext>
            </a:extLst>
          </p:cNvPr>
          <p:cNvSpPr/>
          <p:nvPr/>
        </p:nvSpPr>
        <p:spPr>
          <a:xfrm>
            <a:off x="711200" y="2895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75A9E86-60D0-93DB-9038-B5CC6D7AE851}"/>
              </a:ext>
            </a:extLst>
          </p:cNvPr>
          <p:cNvSpPr/>
          <p:nvPr/>
        </p:nvSpPr>
        <p:spPr>
          <a:xfrm>
            <a:off x="889000" y="3098800"/>
            <a:ext cx="101600" cy="101600"/>
          </a:xfrm>
          <a:prstGeom prst="ellipse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94E6B-36BA-52EF-5B2B-F4292EEC971C}"/>
              </a:ext>
            </a:extLst>
          </p:cNvPr>
          <p:cNvSpPr txBox="1"/>
          <p:nvPr/>
        </p:nvSpPr>
        <p:spPr>
          <a:xfrm>
            <a:off x="1092200" y="3022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언어 비교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739B8-EDB9-59CF-DB88-E9D8E7E49500}"/>
              </a:ext>
            </a:extLst>
          </p:cNvPr>
          <p:cNvSpPr txBox="1"/>
          <p:nvPr/>
        </p:nvSpPr>
        <p:spPr>
          <a:xfrm>
            <a:off x="889000" y="3352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같은 기능의 전체 구현을 통째로</a:t>
            </a:r>
          </a:p>
        </p:txBody>
      </p:sp>
      <p:sp>
        <p:nvSpPr>
          <p:cNvPr id="22" name="cardLink4">
            <a:hlinkClick r:id="rId7" action="ppaction://hlinksldjump"/>
            <a:extLst>
              <a:ext uri="{FF2B5EF4-FFF2-40B4-BE49-F238E27FC236}">
                <a16:creationId xmlns:a16="http://schemas.microsoft.com/office/drawing/2014/main" id="{33C6B1CE-42D2-F7C3-BB5C-A1972B8E26F3}"/>
              </a:ext>
            </a:extLst>
          </p:cNvPr>
          <p:cNvSpPr/>
          <p:nvPr/>
        </p:nvSpPr>
        <p:spPr>
          <a:xfrm>
            <a:off x="4368800" y="2895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27257F9-2024-7AD7-BA3C-605981A55E3A}"/>
              </a:ext>
            </a:extLst>
          </p:cNvPr>
          <p:cNvSpPr/>
          <p:nvPr/>
        </p:nvSpPr>
        <p:spPr>
          <a:xfrm>
            <a:off x="4546600" y="3098800"/>
            <a:ext cx="101600" cy="1016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2DC60-00A2-0F2F-FDAB-ED08E17F3BB1}"/>
              </a:ext>
            </a:extLst>
          </p:cNvPr>
          <p:cNvSpPr txBox="1"/>
          <p:nvPr/>
        </p:nvSpPr>
        <p:spPr>
          <a:xfrm>
            <a:off x="4749800" y="3022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05 · 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디버깅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714AAD-65B3-C266-2B9D-1B2599B1BD96}"/>
              </a:ext>
            </a:extLst>
          </p:cNvPr>
          <p:cNvSpPr txBox="1"/>
          <p:nvPr/>
        </p:nvSpPr>
        <p:spPr>
          <a:xfrm>
            <a:off x="4546600" y="3352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에러 라벨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OOM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의 정체 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역추적</a:t>
            </a:r>
          </a:p>
        </p:txBody>
      </p:sp>
      <p:sp>
        <p:nvSpPr>
          <p:cNvPr id="26" name="cardLink5">
            <a:hlinkClick r:id="rId8" action="ppaction://hlinksldjump"/>
            <a:extLst>
              <a:ext uri="{FF2B5EF4-FFF2-40B4-BE49-F238E27FC236}">
                <a16:creationId xmlns:a16="http://schemas.microsoft.com/office/drawing/2014/main" id="{A4643E3B-8988-51E7-61BF-9C0352265A24}"/>
              </a:ext>
            </a:extLst>
          </p:cNvPr>
          <p:cNvSpPr/>
          <p:nvPr/>
        </p:nvSpPr>
        <p:spPr>
          <a:xfrm>
            <a:off x="8026400" y="2895600"/>
            <a:ext cx="3454400" cy="121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25A5F70-506E-B88B-9F80-34569AA19C3C}"/>
              </a:ext>
            </a:extLst>
          </p:cNvPr>
          <p:cNvSpPr/>
          <p:nvPr/>
        </p:nvSpPr>
        <p:spPr>
          <a:xfrm>
            <a:off x="8204200" y="3098800"/>
            <a:ext cx="101600" cy="101600"/>
          </a:xfrm>
          <a:prstGeom prst="ellipse">
            <a:avLst/>
          </a:prstGeom>
          <a:solidFill>
            <a:srgbClr val="33A7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BC6101-1BAE-ECAF-F56F-2EB8EE4C4735}"/>
              </a:ext>
            </a:extLst>
          </p:cNvPr>
          <p:cNvSpPr txBox="1"/>
          <p:nvPr/>
        </p:nvSpPr>
        <p:spPr>
          <a:xfrm>
            <a:off x="8407400" y="3022600"/>
            <a:ext cx="294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100" b="1">
                <a:solidFill>
                  <a:srgbClr val="23262D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1100" b="1">
                <a:solidFill>
                  <a:srgbClr val="23262D"/>
                </a:solidFill>
                <a:latin typeface="Consolas" panose="020B0609020204030204" pitchFamily="49" charset="0"/>
              </a:rPr>
              <a:t>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09AFBE-73AF-A4E2-53F9-775B95E0ACFE}"/>
              </a:ext>
            </a:extLst>
          </p:cNvPr>
          <p:cNvSpPr txBox="1"/>
          <p:nvPr/>
        </p:nvSpPr>
        <p:spPr>
          <a:xfrm>
            <a:off x="8204200" y="33528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바이너리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·venv·uv·poetry·conda·</a:t>
            </a:r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웹 서버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E5A40D-2A58-E6FC-4449-A48DC4A16C02}"/>
              </a:ext>
            </a:extLst>
          </p:cNvPr>
          <p:cNvSpPr txBox="1"/>
          <p:nvPr/>
        </p:nvSpPr>
        <p:spPr>
          <a:xfrm>
            <a:off x="711200" y="44450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B6270"/>
                </a:solidFill>
                <a:latin typeface="Segoe UI" panose="020B0502040204020203" pitchFamily="34" charset="0"/>
              </a:rPr>
              <a:t>발표 모드에서 카드를 클릭하면 해당 장으로 이동합니다</a:t>
            </a:r>
            <a:r>
              <a:rPr lang="en-US" altLang="ko-KR" sz="11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1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1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A59A4-93D5-D5EC-3F73-1911DDB7189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0F43F-388C-E5A8-154E-280E85848ADF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62E57-4603-62DC-F43A-19A9E6BFF2E7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레시피와 요리사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기본 용어부터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98678-CC76-B4D5-D3AD-52C992EDC565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소스코드는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한국어로 쓴 요리 레시피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", CPU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는 한국어를 못 읽고 기계어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(0/1)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만 아는 요리사다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953321-E38F-AB76-BADB-FF7B069D6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173230"/>
              </p:ext>
            </p:extLst>
          </p:nvPr>
        </p:nvGraphicFramePr>
        <p:xfrm>
          <a:off x="711200" y="1627832"/>
          <a:ext cx="107696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655983532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419260519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단어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쉽게 말하면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947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프로그램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컴퓨터에게 시키는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할 일 목록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 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가위바위보도 프로그램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487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소스코드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사람이 읽고 쓰는 그 목록의 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(game.py)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185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CPU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컴퓨터의 두뇌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실제 계산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 담당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638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기계어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CPU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 직접 알아듣는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0/1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명령어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사람은 거의 못 읽음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639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어셈블리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그 기계어를 사람이 읽을 수 있게 적은 표기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기계어와 거의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1:1 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뒤에서 실물로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02885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(run)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코드에 적힌 대로 컴퓨터가 실제로 일하게 하는 것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24318"/>
                  </a:ext>
                </a:extLst>
              </a:tr>
            </a:tbl>
          </a:graphicData>
        </a:graphic>
      </p:graphicFrame>
      <p:sp>
        <p:nvSpPr>
          <p:cNvPr id="7" name="!!flow-src">
            <a:extLst>
              <a:ext uri="{FF2B5EF4-FFF2-40B4-BE49-F238E27FC236}">
                <a16:creationId xmlns:a16="http://schemas.microsoft.com/office/drawing/2014/main" id="{E8443A36-9C36-A204-F430-EE7BA920F502}"/>
              </a:ext>
            </a:extLst>
          </p:cNvPr>
          <p:cNvSpPr/>
          <p:nvPr/>
        </p:nvSpPr>
        <p:spPr>
          <a:xfrm>
            <a:off x="927100" y="3939232"/>
            <a:ext cx="27178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📝 소스코드</a:t>
            </a:r>
          </a:p>
          <a:p>
            <a:pPr algn="ctr"/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사람이 읽는 글</a:t>
            </a:r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2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D9302-C6AB-21A0-2C13-C79A58F74FF0}"/>
              </a:ext>
            </a:extLst>
          </p:cNvPr>
          <p:cNvSpPr txBox="1"/>
          <p:nvPr/>
        </p:nvSpPr>
        <p:spPr>
          <a:xfrm>
            <a:off x="3860800" y="3761432"/>
            <a:ext cx="685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5B6270"/>
                </a:solidFill>
                <a:latin typeface="Consolas" panose="020B0609020204030204" pitchFamily="49" charset="0"/>
              </a:rPr>
              <a:t>번역</a:t>
            </a:r>
          </a:p>
        </p:txBody>
      </p:sp>
      <p:sp>
        <p:nvSpPr>
          <p:cNvPr id="9" name="!!flow-a1">
            <a:extLst>
              <a:ext uri="{FF2B5EF4-FFF2-40B4-BE49-F238E27FC236}">
                <a16:creationId xmlns:a16="http://schemas.microsoft.com/office/drawing/2014/main" id="{DE55DBB2-2ED0-D101-0F90-3B34DB88A7ED}"/>
              </a:ext>
            </a:extLst>
          </p:cNvPr>
          <p:cNvSpPr/>
          <p:nvPr/>
        </p:nvSpPr>
        <p:spPr>
          <a:xfrm>
            <a:off x="3860800" y="4218632"/>
            <a:ext cx="6604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!!flow-mc">
            <a:extLst>
              <a:ext uri="{FF2B5EF4-FFF2-40B4-BE49-F238E27FC236}">
                <a16:creationId xmlns:a16="http://schemas.microsoft.com/office/drawing/2014/main" id="{A8479497-86EE-A8F4-B16B-86AF128DD56A}"/>
              </a:ext>
            </a:extLst>
          </p:cNvPr>
          <p:cNvSpPr/>
          <p:nvPr/>
        </p:nvSpPr>
        <p:spPr>
          <a:xfrm>
            <a:off x="4737100" y="3939232"/>
            <a:ext cx="27178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🔢 기계어</a:t>
            </a:r>
          </a:p>
          <a:p>
            <a:pPr algn="ctr"/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(0</a:t>
            </a:r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과 </a:t>
            </a:r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1)</a:t>
            </a:r>
            <a:endParaRPr lang="ko-KR" altLang="en-US" sz="12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!!flow-a2">
            <a:extLst>
              <a:ext uri="{FF2B5EF4-FFF2-40B4-BE49-F238E27FC236}">
                <a16:creationId xmlns:a16="http://schemas.microsoft.com/office/drawing/2014/main" id="{51E3FB80-4DB9-BD26-2043-1F31C2C71F56}"/>
              </a:ext>
            </a:extLst>
          </p:cNvPr>
          <p:cNvSpPr/>
          <p:nvPr/>
        </p:nvSpPr>
        <p:spPr>
          <a:xfrm>
            <a:off x="7670800" y="4218632"/>
            <a:ext cx="6604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!!flow-cpu">
            <a:extLst>
              <a:ext uri="{FF2B5EF4-FFF2-40B4-BE49-F238E27FC236}">
                <a16:creationId xmlns:a16="http://schemas.microsoft.com/office/drawing/2014/main" id="{6205AFF7-C2D9-8608-BCFD-92C6E48B11C3}"/>
              </a:ext>
            </a:extLst>
          </p:cNvPr>
          <p:cNvSpPr/>
          <p:nvPr/>
        </p:nvSpPr>
        <p:spPr>
          <a:xfrm>
            <a:off x="8547100" y="3939232"/>
            <a:ext cx="2717800" cy="736600"/>
          </a:xfrm>
          <a:prstGeom prst="roundRect">
            <a:avLst/>
          </a:prstGeom>
          <a:solidFill>
            <a:srgbClr val="23262D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⚙️ 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CPU 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실행</a:t>
            </a:r>
          </a:p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요리 완성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)</a:t>
            </a:r>
            <a:endParaRPr lang="ko-KR" altLang="en-US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84F2C-CF21-44FD-1734-7175E8EE830F}"/>
              </a:ext>
            </a:extLst>
          </p:cNvPr>
          <p:cNvSpPr txBox="1"/>
          <p:nvPr/>
        </p:nvSpPr>
        <p:spPr>
          <a:xfrm>
            <a:off x="711200" y="5006032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번역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을 언제 하느냐가 언어를 가른다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다음 장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0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97E8BB-9F8C-0EE1-FF98-12FFDE548654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D3A6C-27A8-0C0B-4E5A-B5E5F1F10CCA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E54A7-03AE-5110-B53C-CB575C8411F3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AI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시대에는 층이 하나 더 얹혔다</a:t>
            </a:r>
          </a:p>
        </p:txBody>
      </p:sp>
      <p:sp>
        <p:nvSpPr>
          <p:cNvPr id="5" name="flowPrompt">
            <a:extLst>
              <a:ext uri="{FF2B5EF4-FFF2-40B4-BE49-F238E27FC236}">
                <a16:creationId xmlns:a16="http://schemas.microsoft.com/office/drawing/2014/main" id="{FE43D790-E8C1-24B3-A93C-BA0BDE4E5F7E}"/>
              </a:ext>
            </a:extLst>
          </p:cNvPr>
          <p:cNvSpPr/>
          <p:nvPr/>
        </p:nvSpPr>
        <p:spPr>
          <a:xfrm>
            <a:off x="927100" y="1270000"/>
            <a:ext cx="2717800" cy="736600"/>
          </a:xfrm>
          <a:prstGeom prst="roundRect">
            <a:avLst/>
          </a:prstGeom>
          <a:solidFill>
            <a:srgbClr val="33A79C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🗣 프롬프트</a:t>
            </a:r>
          </a:p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사람의 말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)</a:t>
            </a:r>
            <a:endParaRPr lang="ko-KR" altLang="en-US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flowAiArrow">
            <a:extLst>
              <a:ext uri="{FF2B5EF4-FFF2-40B4-BE49-F238E27FC236}">
                <a16:creationId xmlns:a16="http://schemas.microsoft.com/office/drawing/2014/main" id="{37485467-8F6A-4AB2-C641-F652AA823141}"/>
              </a:ext>
            </a:extLst>
          </p:cNvPr>
          <p:cNvSpPr/>
          <p:nvPr/>
        </p:nvSpPr>
        <p:spPr>
          <a:xfrm>
            <a:off x="2133600" y="2044700"/>
            <a:ext cx="304800" cy="355600"/>
          </a:xfrm>
          <a:prstGeom prst="downArrow">
            <a:avLst/>
          </a:prstGeom>
          <a:solidFill>
            <a:srgbClr val="33A7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BB3AAF-167E-00B2-2AF6-1CFB182777C2}"/>
              </a:ext>
            </a:extLst>
          </p:cNvPr>
          <p:cNvSpPr txBox="1"/>
          <p:nvPr/>
        </p:nvSpPr>
        <p:spPr>
          <a:xfrm>
            <a:off x="2540000" y="2108200"/>
            <a:ext cx="1651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B6270"/>
                </a:solidFill>
                <a:latin typeface="Consolas" panose="020B0609020204030204" pitchFamily="49" charset="0"/>
              </a:rPr>
              <a:t>AI </a:t>
            </a:r>
            <a:r>
              <a:rPr lang="ko-KR" altLang="en-US" sz="950">
                <a:solidFill>
                  <a:srgbClr val="5B6270"/>
                </a:solidFill>
                <a:latin typeface="Consolas" panose="020B0609020204030204" pitchFamily="49" charset="0"/>
              </a:rPr>
              <a:t>가 코딩</a:t>
            </a:r>
          </a:p>
        </p:txBody>
      </p:sp>
      <p:sp>
        <p:nvSpPr>
          <p:cNvPr id="8" name="!!flow-src">
            <a:extLst>
              <a:ext uri="{FF2B5EF4-FFF2-40B4-BE49-F238E27FC236}">
                <a16:creationId xmlns:a16="http://schemas.microsoft.com/office/drawing/2014/main" id="{E8F0B33B-FCE7-E8A8-84CD-D721CE185DE0}"/>
              </a:ext>
            </a:extLst>
          </p:cNvPr>
          <p:cNvSpPr/>
          <p:nvPr/>
        </p:nvSpPr>
        <p:spPr>
          <a:xfrm>
            <a:off x="927100" y="2438400"/>
            <a:ext cx="27178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📝 소스코드</a:t>
            </a:r>
          </a:p>
          <a:p>
            <a:pPr algn="ctr"/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사람이 읽는 글</a:t>
            </a:r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2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95BE3-F9A9-B4D9-499B-5C29CAA86336}"/>
              </a:ext>
            </a:extLst>
          </p:cNvPr>
          <p:cNvSpPr txBox="1"/>
          <p:nvPr/>
        </p:nvSpPr>
        <p:spPr>
          <a:xfrm>
            <a:off x="3860800" y="2260600"/>
            <a:ext cx="685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5B6270"/>
                </a:solidFill>
                <a:latin typeface="Consolas" panose="020B0609020204030204" pitchFamily="49" charset="0"/>
              </a:rPr>
              <a:t>번역</a:t>
            </a:r>
          </a:p>
        </p:txBody>
      </p:sp>
      <p:sp>
        <p:nvSpPr>
          <p:cNvPr id="10" name="!!flow-a1">
            <a:extLst>
              <a:ext uri="{FF2B5EF4-FFF2-40B4-BE49-F238E27FC236}">
                <a16:creationId xmlns:a16="http://schemas.microsoft.com/office/drawing/2014/main" id="{02BB318B-997F-B6E0-218B-29E345B6FE70}"/>
              </a:ext>
            </a:extLst>
          </p:cNvPr>
          <p:cNvSpPr/>
          <p:nvPr/>
        </p:nvSpPr>
        <p:spPr>
          <a:xfrm>
            <a:off x="3860800" y="2717800"/>
            <a:ext cx="6604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!!flow-mc">
            <a:extLst>
              <a:ext uri="{FF2B5EF4-FFF2-40B4-BE49-F238E27FC236}">
                <a16:creationId xmlns:a16="http://schemas.microsoft.com/office/drawing/2014/main" id="{FFE9A8C7-1297-FFE9-8E76-A4923A1A79BE}"/>
              </a:ext>
            </a:extLst>
          </p:cNvPr>
          <p:cNvSpPr/>
          <p:nvPr/>
        </p:nvSpPr>
        <p:spPr>
          <a:xfrm>
            <a:off x="4737100" y="2438400"/>
            <a:ext cx="27178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🔢 기계어</a:t>
            </a:r>
          </a:p>
          <a:p>
            <a:pPr algn="ctr"/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(0</a:t>
            </a:r>
            <a:r>
              <a:rPr lang="ko-KR" altLang="en-US" sz="1200" b="1">
                <a:solidFill>
                  <a:srgbClr val="23262D"/>
                </a:solidFill>
                <a:latin typeface="Segoe UI" panose="020B0502040204020203" pitchFamily="34" charset="0"/>
              </a:rPr>
              <a:t>과 </a:t>
            </a:r>
            <a:r>
              <a:rPr lang="en-US" altLang="ko-KR" sz="1200" b="1">
                <a:solidFill>
                  <a:srgbClr val="23262D"/>
                </a:solidFill>
                <a:latin typeface="Segoe UI" panose="020B0502040204020203" pitchFamily="34" charset="0"/>
              </a:rPr>
              <a:t>1)</a:t>
            </a:r>
            <a:endParaRPr lang="ko-KR" altLang="en-US" sz="12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!!flow-a2">
            <a:extLst>
              <a:ext uri="{FF2B5EF4-FFF2-40B4-BE49-F238E27FC236}">
                <a16:creationId xmlns:a16="http://schemas.microsoft.com/office/drawing/2014/main" id="{6776EA6F-6A72-240B-1B68-E9643A9EFC8B}"/>
              </a:ext>
            </a:extLst>
          </p:cNvPr>
          <p:cNvSpPr/>
          <p:nvPr/>
        </p:nvSpPr>
        <p:spPr>
          <a:xfrm>
            <a:off x="7670800" y="2717800"/>
            <a:ext cx="6604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!!flow-cpu">
            <a:extLst>
              <a:ext uri="{FF2B5EF4-FFF2-40B4-BE49-F238E27FC236}">
                <a16:creationId xmlns:a16="http://schemas.microsoft.com/office/drawing/2014/main" id="{E38AD2E0-7E9F-AC45-1F19-7B971239BD2C}"/>
              </a:ext>
            </a:extLst>
          </p:cNvPr>
          <p:cNvSpPr/>
          <p:nvPr/>
        </p:nvSpPr>
        <p:spPr>
          <a:xfrm>
            <a:off x="8547100" y="2438400"/>
            <a:ext cx="2717800" cy="736600"/>
          </a:xfrm>
          <a:prstGeom prst="roundRect">
            <a:avLst/>
          </a:prstGeom>
          <a:solidFill>
            <a:srgbClr val="23262D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⚙️ 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CPU/GPU 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실행</a:t>
            </a:r>
          </a:p>
          <a:p>
            <a:pPr algn="ctr"/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(AI 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GPU </a:t>
            </a:r>
            <a:r>
              <a:rPr lang="ko-KR" alt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도</a:t>
            </a:r>
            <a:r>
              <a:rPr lang="en-US" altLang="ko-KR" sz="1200" b="1">
                <a:solidFill>
                  <a:srgbClr val="FFFFFF"/>
                </a:solidFill>
                <a:latin typeface="Segoe UI" panose="020B0502040204020203" pitchFamily="34" charset="0"/>
              </a:rPr>
              <a:t>)</a:t>
            </a:r>
            <a:endParaRPr lang="ko-KR" altLang="en-US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FCD936A-F1F2-F59A-E3EE-8B73418F6B7A}"/>
              </a:ext>
            </a:extLst>
          </p:cNvPr>
          <p:cNvSpPr/>
          <p:nvPr/>
        </p:nvSpPr>
        <p:spPr>
          <a:xfrm>
            <a:off x="711200" y="3505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58708A-9ECD-3AFE-021E-8E5F4BF1E06C}"/>
              </a:ext>
            </a:extLst>
          </p:cNvPr>
          <p:cNvSpPr txBox="1"/>
          <p:nvPr/>
        </p:nvSpPr>
        <p:spPr>
          <a:xfrm>
            <a:off x="889000" y="342900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번역 층이 하나 늘었을 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각 층의 번역은 여전히 틀릴 수 있다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AA846FE-8AF5-D589-E9A4-B4508BE650FE}"/>
              </a:ext>
            </a:extLst>
          </p:cNvPr>
          <p:cNvSpPr/>
          <p:nvPr/>
        </p:nvSpPr>
        <p:spPr>
          <a:xfrm>
            <a:off x="711200" y="3781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D8B2D6-2529-A89E-7913-3EEFF3423428}"/>
              </a:ext>
            </a:extLst>
          </p:cNvPr>
          <p:cNvSpPr txBox="1"/>
          <p:nvPr/>
        </p:nvSpPr>
        <p:spPr>
          <a:xfrm>
            <a:off x="889000" y="370525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AI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만든 코드에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age++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논리 버그가 섞여도 기계는 군말 없이 실행한다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8D46379-D714-492F-CC59-BDF46FE4388A}"/>
              </a:ext>
            </a:extLst>
          </p:cNvPr>
          <p:cNvSpPr/>
          <p:nvPr/>
        </p:nvSpPr>
        <p:spPr>
          <a:xfrm>
            <a:off x="711200" y="40577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71FEC-5A9C-F319-CBCF-D1840875EEA7}"/>
              </a:ext>
            </a:extLst>
          </p:cNvPr>
          <p:cNvSpPr txBox="1"/>
          <p:nvPr/>
        </p:nvSpPr>
        <p:spPr>
          <a:xfrm>
            <a:off x="889000" y="398151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중간층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소스코드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을 읽을 줄 아는 사람만이 그 번역을 검증할 수 있다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3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번 슬라이드의 논지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9F14188-89FF-96C0-9AAC-87DCE16237F6}"/>
              </a:ext>
            </a:extLst>
          </p:cNvPr>
          <p:cNvSpPr/>
          <p:nvPr/>
        </p:nvSpPr>
        <p:spPr>
          <a:xfrm>
            <a:off x="711200" y="43339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D873BA-3294-DEE1-D4CD-8F13C546C2A2}"/>
              </a:ext>
            </a:extLst>
          </p:cNvPr>
          <p:cNvSpPr txBox="1"/>
          <p:nvPr/>
        </p:nvSpPr>
        <p:spPr>
          <a:xfrm>
            <a:off x="889000" y="425776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AI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학습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추론 같은 대규모 병렬 계산은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GPU(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수천 개의 단순 계산기를 묶은 칩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담당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167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AA1CF2-D59A-E876-8296-D86B997E5055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F1082-3963-49A7-672F-C5062FEEFDC2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CEA34-35E5-7B06-E452-AC4756AD05DC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번역을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언제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하느냐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3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가지 방식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3B651D3-9267-D6EB-AC66-92CA24F9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522206"/>
              </p:ext>
            </p:extLst>
          </p:nvPr>
        </p:nvGraphicFramePr>
        <p:xfrm>
          <a:off x="711200" y="1270000"/>
          <a:ext cx="107696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106834379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54471559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1871638157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7731893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방식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비유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대표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속도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974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컴파일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네이티브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요리 전에 레시피 전체를 번역해 완성본을 만들어 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 / C++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가장 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6559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바이트코드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VM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중간 언어로 미리 번역 → 가상의 요리사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(JVM)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 실행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Java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중간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(JIT)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4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인터프리터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요리하면서 한 줄씩 즉석 통역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느림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80722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58B1141A-FB66-E73F-4C7F-CAC63F831A98}"/>
              </a:ext>
            </a:extLst>
          </p:cNvPr>
          <p:cNvSpPr/>
          <p:nvPr/>
        </p:nvSpPr>
        <p:spPr>
          <a:xfrm>
            <a:off x="711200" y="288036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49CF2-7F99-EFCC-B87E-AEA26819EDE5}"/>
              </a:ext>
            </a:extLst>
          </p:cNvPr>
          <p:cNvSpPr txBox="1"/>
          <p:nvPr/>
        </p:nvSpPr>
        <p:spPr>
          <a:xfrm>
            <a:off x="889000" y="280416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컴파일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미리 기계어로 번역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결과물이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rps.exe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실행 파일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8581197-4B42-68EF-5581-6B598E7E1E76}"/>
              </a:ext>
            </a:extLst>
          </p:cNvPr>
          <p:cNvSpPr/>
          <p:nvPr/>
        </p:nvSpPr>
        <p:spPr>
          <a:xfrm>
            <a:off x="711200" y="315661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35BE6-6EBF-01D2-F5FB-3839EEB1BB6F}"/>
              </a:ext>
            </a:extLst>
          </p:cNvPr>
          <p:cNvSpPr txBox="1"/>
          <p:nvPr/>
        </p:nvSpPr>
        <p:spPr>
          <a:xfrm>
            <a:off x="889000" y="308041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가상머신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(VM)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진짜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CPU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위의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가상 실행기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— Java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JVM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위에서 돈다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149B206-BAB3-3422-63CF-DC0D1AFE0F58}"/>
              </a:ext>
            </a:extLst>
          </p:cNvPr>
          <p:cNvSpPr/>
          <p:nvPr/>
        </p:nvSpPr>
        <p:spPr>
          <a:xfrm>
            <a:off x="711200" y="343287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5A3B-350A-9938-5EE3-DF1E3B0CFE00}"/>
              </a:ext>
            </a:extLst>
          </p:cNvPr>
          <p:cNvSpPr txBox="1"/>
          <p:nvPr/>
        </p:nvSpPr>
        <p:spPr>
          <a:xfrm>
            <a:off x="889000" y="335667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 내부에선 바이트코드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(.pyc)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컴파일한다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차이는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언제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얼마나 최적화해서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36646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F0CDE94-F541-30D5-9731-381B2FBF3C9D}"/>
              </a:ext>
            </a:extLst>
          </p:cNvPr>
          <p:cNvSpPr/>
          <p:nvPr/>
        </p:nvSpPr>
        <p:spPr>
          <a:xfrm>
            <a:off x="62484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DD7B24-D54B-FCB1-17E0-907E498F254F}"/>
              </a:ext>
            </a:extLst>
          </p:cNvPr>
          <p:cNvSpPr/>
          <p:nvPr/>
        </p:nvSpPr>
        <p:spPr>
          <a:xfrm>
            <a:off x="711200" y="1270000"/>
            <a:ext cx="5232400" cy="1774637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1FC712-1965-5F22-87D5-6A75FBDCE1E2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1431C-76DA-8BE9-4178-20B24B1F97F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E93E8-4E7D-C617-EF73-1830ABE03B2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컴파일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의 속살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어셈블리라는 중간역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E7C32-BB21-1566-9DC4-89C2969A83C4}"/>
              </a:ext>
            </a:extLst>
          </p:cNvPr>
          <p:cNvSpPr txBox="1"/>
          <p:nvPr/>
        </p:nvSpPr>
        <p:spPr>
          <a:xfrm>
            <a:off x="838200" y="1625600"/>
            <a:ext cx="4001095" cy="12412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소스코드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(.cpp)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→ [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전처리기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]  #include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펼침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컴파일러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]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어셈블리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(.s) 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사람이 읽는 기계어 표기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어셈블러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]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목적 파일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(.o)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진짜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0/1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조각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링커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]   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실행 파일      ← 주소 연결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·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이어붙임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A7136-07CB-10F4-7981-1291FE94ED46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C/C++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번역 파이프라인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977CD-0836-0857-F237-473DC45C17C0}"/>
              </a:ext>
            </a:extLst>
          </p:cNvPr>
          <p:cNvSpPr txBox="1"/>
          <p:nvPr/>
        </p:nvSpPr>
        <p:spPr>
          <a:xfrm>
            <a:off x="711200" y="3171637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링커가 연결할 함수를 못 찾으면 → 그 유명한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undefined reference.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104E3-1B46-D8F5-649F-DC65E55926A5}"/>
              </a:ext>
            </a:extLst>
          </p:cNvPr>
          <p:cNvSpPr txBox="1"/>
          <p:nvPr/>
        </p:nvSpPr>
        <p:spPr>
          <a:xfrm>
            <a:off x="6375400" y="1625600"/>
            <a:ext cx="3359894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원래 코드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판정식 한 줄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int diff = (a - b + 3) % 3;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; ↓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컴파일러가 만든 어셈블리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명령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7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mov  eax, [a]      ; a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를 레지스터에 담고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sub  eax, [b]      ;   - b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add  eax, 3        ;   + 3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mov  ecx, 3        ; % 3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을 위한 준비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cdq                ;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나눗셈 전 부호 확장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idiv ecx           ;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나누면 나머지가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edx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에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mov  [diff], edx   ; diff 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그 나머지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646CF-3BED-272A-1FC3-5B0238401B20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한 줄이 어떻게 바뀌나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(x86-64,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개념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9D8B0-6268-D52B-CBF9-5E39BB40B679}"/>
              </a:ext>
            </a:extLst>
          </p:cNvPr>
          <p:cNvSpPr txBox="1"/>
          <p:nvPr/>
        </p:nvSpPr>
        <p:spPr>
          <a:xfrm>
            <a:off x="6248400" y="3792448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사람의 한 줄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기계의 낱개 명령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7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개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 CPU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는 이걸 인출→해석→실행으로 초당 수십억 번 반복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JVM·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파이썬 인터프리터도 같은 구조의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소프트웨어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CPU"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79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B35219-B13E-8B7B-DC39-C1AA404868B2}"/>
              </a:ext>
            </a:extLst>
          </p:cNvPr>
          <p:cNvSpPr/>
          <p:nvPr/>
        </p:nvSpPr>
        <p:spPr>
          <a:xfrm>
            <a:off x="711200" y="1270000"/>
            <a:ext cx="5232400" cy="205689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775E0E-C834-9B42-33E8-3B0221C56B0E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ECEA8-1B96-129C-994C-D8500EC90A60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080A9-D514-E86E-95AB-A7649E30787C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가위바위보로 보면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빌드의 유무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60841-D1C4-9810-B8C2-7AE80D40068F}"/>
              </a:ext>
            </a:extLst>
          </p:cNvPr>
          <p:cNvSpPr txBox="1"/>
          <p:nvPr/>
        </p:nvSpPr>
        <p:spPr>
          <a:xfrm>
            <a:off x="838200" y="1625600"/>
            <a:ext cx="3462486" cy="1523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C++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먼저 기계어 실행파일을 만든 뒤 실행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cmake --build build      # → rps.exe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.\build\rps.exe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Java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바이트코드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(.jar)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 빌드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JVM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 실행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.\gradlew.bat build      # → build/libs/*.jar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Python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빌드 없음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즉석 번역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·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실행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4A118-C92B-623B-093F-8001D2F3734C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세 언어의 실행 경로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A38AECA-6ED9-85BC-900D-F45AE2B70721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332B0-65F8-AE4A-D6B0-2F3D333BC22D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C/C++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실행 시 번역이 없어 가장 빠름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대신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OS·CPU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바뀌면 재빌드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DC8456E-5E21-99DB-C87F-334CDD560968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2F7CE-F195-BB14-37B8-A1D61D0BEABA}"/>
              </a:ext>
            </a:extLst>
          </p:cNvPr>
          <p:cNvSpPr txBox="1"/>
          <p:nvPr/>
        </p:nvSpPr>
        <p:spPr>
          <a:xfrm>
            <a:off x="6426200" y="174631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Java — 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 번 작성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어디서나 실행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자주 쓰는 코드는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JIT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기계어 재번역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EDF1A33-400F-C97E-2BE3-4DADA4071816}"/>
              </a:ext>
            </a:extLst>
          </p:cNvPr>
          <p:cNvSpPr/>
          <p:nvPr/>
        </p:nvSpPr>
        <p:spPr>
          <a:xfrm>
            <a:off x="6248400" y="22988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79594-59A4-6875-B8B9-F1A06406D210}"/>
              </a:ext>
            </a:extLst>
          </p:cNvPr>
          <p:cNvSpPr txBox="1"/>
          <p:nvPr/>
        </p:nvSpPr>
        <p:spPr>
          <a:xfrm>
            <a:off x="6426200" y="222262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고치고 바로 실행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작성→실행 사이클 최단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실행 자체는 최저속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89EDCB-F570-2482-DFC2-079F4BC9DB40}"/>
              </a:ext>
            </a:extLst>
          </p:cNvPr>
          <p:cNvSpPr/>
          <p:nvPr/>
        </p:nvSpPr>
        <p:spPr>
          <a:xfrm>
            <a:off x="6248400" y="277513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37364-69F1-D083-6626-C6C239B5739D}"/>
              </a:ext>
            </a:extLst>
          </p:cNvPr>
          <p:cNvSpPr txBox="1"/>
          <p:nvPr/>
        </p:nvSpPr>
        <p:spPr>
          <a:xfrm>
            <a:off x="6426200" y="269893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빌드 없음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생산성의 큰 부분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30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65CE6C-3B16-C101-4955-9F928E1B084B}"/>
              </a:ext>
            </a:extLst>
          </p:cNvPr>
          <p:cNvSpPr/>
          <p:nvPr/>
        </p:nvSpPr>
        <p:spPr>
          <a:xfrm>
            <a:off x="6248400" y="1270000"/>
            <a:ext cx="5232400" cy="1520722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20F433-CEA4-879D-D8D2-80C8DD17AF93}"/>
              </a:ext>
            </a:extLst>
          </p:cNvPr>
          <p:cNvSpPr/>
          <p:nvPr/>
        </p:nvSpPr>
        <p:spPr>
          <a:xfrm>
            <a:off x="711200" y="1270000"/>
            <a:ext cx="5232400" cy="12679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A3A8AA-3B05-D06E-5F07-C9F666773092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24D74-3012-8D45-1E9E-53BA341D656B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01233-8793-0779-FCC5-CA4430430D75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정적 타입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동적 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FB4D3-C549-ED40-821D-7BB7D5880D0F}"/>
              </a:ext>
            </a:extLst>
          </p:cNvPr>
          <p:cNvSpPr txBox="1"/>
          <p:nvPr/>
        </p:nvSpPr>
        <p:spPr>
          <a:xfrm>
            <a:off x="838200" y="1625600"/>
            <a:ext cx="3308598" cy="73456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Hand player = Hand.ROCK;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타입 선언 필수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int diff = (player.code()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- computer.code() + 3) % 3;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A3FB7-5AA2-53B6-AB23-2080157111EB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Java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컴파일 때 검사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정적 타입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38387-E85D-DB29-BEAD-698FE527FEC5}"/>
              </a:ext>
            </a:extLst>
          </p:cNvPr>
          <p:cNvSpPr txBox="1"/>
          <p:nvPr/>
        </p:nvSpPr>
        <p:spPr>
          <a:xfrm>
            <a:off x="711200" y="266496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실행 전에 실수를 잡아 안전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대신 장황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53568-99C4-633F-80B4-B6D4766DBBC5}"/>
              </a:ext>
            </a:extLst>
          </p:cNvPr>
          <p:cNvSpPr txBox="1"/>
          <p:nvPr/>
        </p:nvSpPr>
        <p:spPr>
          <a:xfrm>
            <a:off x="6375400" y="1625600"/>
            <a:ext cx="3706143" cy="9873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player = Hand.ROCK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선언 없이 대입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diff = (player - computer + 3) % 3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parse_hand(text: str) -&gt; Hand: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힌트는 선택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564CE9-83CF-1693-9315-D5D35ECE1D52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Python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실행 중 결정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동적 타입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+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힌트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선택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0A7E6-DE06-EC93-ACE8-90C272F6FCE3}"/>
              </a:ext>
            </a:extLst>
          </p:cNvPr>
          <p:cNvSpPr txBox="1"/>
          <p:nvPr/>
        </p:nvSpPr>
        <p:spPr>
          <a:xfrm>
            <a:off x="6248400" y="2917722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짧고 유연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힌트를 붙이면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mypy·pyright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가 검사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점진적 타이핑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).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런타임 검증은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Pydantic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뒤에서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11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928866-E913-AF41-FE91-6BB1BAC6BAF0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617DC-7A10-E720-1361-977DD1D35ED4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B79F0-4288-90D6-77D0-F3704D37A942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메모리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빌리고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쓰고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반납한다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E4E11-98EF-4AEF-179E-9A3DD053592A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메모리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(RAM) =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실행 중인 값을 올려두는 작업대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모든 프로그램은 이 세 동작을 반복한다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: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memPill0">
            <a:extLst>
              <a:ext uri="{FF2B5EF4-FFF2-40B4-BE49-F238E27FC236}">
                <a16:creationId xmlns:a16="http://schemas.microsoft.com/office/drawing/2014/main" id="{FCA231B5-2956-D5E1-89B4-DFC24F32B779}"/>
              </a:ext>
            </a:extLst>
          </p:cNvPr>
          <p:cNvSpPr/>
          <p:nvPr/>
        </p:nvSpPr>
        <p:spPr>
          <a:xfrm>
            <a:off x="736600" y="1627832"/>
            <a:ext cx="29972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📥 빌린다 </a:t>
            </a:r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할당</a:t>
            </a:r>
          </a:p>
          <a:p>
            <a:pPr algn="ctr"/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(malloc · new · </a:t>
            </a:r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객체 생성</a:t>
            </a:r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1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memPillA0">
            <a:extLst>
              <a:ext uri="{FF2B5EF4-FFF2-40B4-BE49-F238E27FC236}">
                <a16:creationId xmlns:a16="http://schemas.microsoft.com/office/drawing/2014/main" id="{9B147599-4020-4BEA-51E7-2877262AF6DD}"/>
              </a:ext>
            </a:extLst>
          </p:cNvPr>
          <p:cNvSpPr/>
          <p:nvPr/>
        </p:nvSpPr>
        <p:spPr>
          <a:xfrm>
            <a:off x="3886200" y="1869132"/>
            <a:ext cx="5588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memPill1">
            <a:extLst>
              <a:ext uri="{FF2B5EF4-FFF2-40B4-BE49-F238E27FC236}">
                <a16:creationId xmlns:a16="http://schemas.microsoft.com/office/drawing/2014/main" id="{5F4DAC19-BD69-1332-C645-DD44352B9174}"/>
              </a:ext>
            </a:extLst>
          </p:cNvPr>
          <p:cNvSpPr/>
          <p:nvPr/>
        </p:nvSpPr>
        <p:spPr>
          <a:xfrm>
            <a:off x="4597400" y="1627832"/>
            <a:ext cx="29972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✍️ 쓴다</a:t>
            </a:r>
          </a:p>
          <a:p>
            <a:pPr algn="ctr"/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값을 올려 두고 읽는다</a:t>
            </a:r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1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memPillA1">
            <a:extLst>
              <a:ext uri="{FF2B5EF4-FFF2-40B4-BE49-F238E27FC236}">
                <a16:creationId xmlns:a16="http://schemas.microsoft.com/office/drawing/2014/main" id="{983643C7-BD81-8C94-D0CB-E821BC71B986}"/>
              </a:ext>
            </a:extLst>
          </p:cNvPr>
          <p:cNvSpPr/>
          <p:nvPr/>
        </p:nvSpPr>
        <p:spPr>
          <a:xfrm>
            <a:off x="7747000" y="1869132"/>
            <a:ext cx="558800" cy="177800"/>
          </a:xfrm>
          <a:prstGeom prst="rightArrow">
            <a:avLst/>
          </a:prstGeom>
          <a:solidFill>
            <a:srgbClr val="5B62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memPill2">
            <a:extLst>
              <a:ext uri="{FF2B5EF4-FFF2-40B4-BE49-F238E27FC236}">
                <a16:creationId xmlns:a16="http://schemas.microsoft.com/office/drawing/2014/main" id="{C2D8F289-DD74-6F14-B428-52DC6E5F0C67}"/>
              </a:ext>
            </a:extLst>
          </p:cNvPr>
          <p:cNvSpPr/>
          <p:nvPr/>
        </p:nvSpPr>
        <p:spPr>
          <a:xfrm>
            <a:off x="8458200" y="1627832"/>
            <a:ext cx="2997200" cy="66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📤 반납한다 </a:t>
            </a:r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해제</a:t>
            </a:r>
          </a:p>
          <a:p>
            <a:pPr algn="ctr"/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(free · GC </a:t>
            </a:r>
            <a:r>
              <a:rPr lang="ko-KR" altLang="en-US" sz="1100" b="1">
                <a:solidFill>
                  <a:srgbClr val="23262D"/>
                </a:solidFill>
                <a:latin typeface="Segoe UI" panose="020B0502040204020203" pitchFamily="34" charset="0"/>
              </a:rPr>
              <a:t>회수</a:t>
            </a:r>
            <a:r>
              <a:rPr lang="en-US" altLang="ko-KR" sz="11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1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ellBase0">
            <a:extLst>
              <a:ext uri="{FF2B5EF4-FFF2-40B4-BE49-F238E27FC236}">
                <a16:creationId xmlns:a16="http://schemas.microsoft.com/office/drawing/2014/main" id="{D7BAFBD8-6F24-621D-7E6A-167320BA27AF}"/>
              </a:ext>
            </a:extLst>
          </p:cNvPr>
          <p:cNvSpPr/>
          <p:nvPr/>
        </p:nvSpPr>
        <p:spPr>
          <a:xfrm>
            <a:off x="8636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cellBase1">
            <a:extLst>
              <a:ext uri="{FF2B5EF4-FFF2-40B4-BE49-F238E27FC236}">
                <a16:creationId xmlns:a16="http://schemas.microsoft.com/office/drawing/2014/main" id="{6F66999E-DF27-FC71-974E-9497B0FD8D2B}"/>
              </a:ext>
            </a:extLst>
          </p:cNvPr>
          <p:cNvSpPr/>
          <p:nvPr/>
        </p:nvSpPr>
        <p:spPr>
          <a:xfrm>
            <a:off x="21844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cellBase2">
            <a:extLst>
              <a:ext uri="{FF2B5EF4-FFF2-40B4-BE49-F238E27FC236}">
                <a16:creationId xmlns:a16="http://schemas.microsoft.com/office/drawing/2014/main" id="{4D29C4A3-9225-9BD1-E500-FF4CF46BA2DE}"/>
              </a:ext>
            </a:extLst>
          </p:cNvPr>
          <p:cNvSpPr/>
          <p:nvPr/>
        </p:nvSpPr>
        <p:spPr>
          <a:xfrm>
            <a:off x="35052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cellBase3">
            <a:extLst>
              <a:ext uri="{FF2B5EF4-FFF2-40B4-BE49-F238E27FC236}">
                <a16:creationId xmlns:a16="http://schemas.microsoft.com/office/drawing/2014/main" id="{0DCF2773-6161-8C71-426A-3ABA8B217183}"/>
              </a:ext>
            </a:extLst>
          </p:cNvPr>
          <p:cNvSpPr/>
          <p:nvPr/>
        </p:nvSpPr>
        <p:spPr>
          <a:xfrm>
            <a:off x="48260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cellBase4">
            <a:extLst>
              <a:ext uri="{FF2B5EF4-FFF2-40B4-BE49-F238E27FC236}">
                <a16:creationId xmlns:a16="http://schemas.microsoft.com/office/drawing/2014/main" id="{F5FE3DD4-C59F-2E97-F85D-25A862440EE0}"/>
              </a:ext>
            </a:extLst>
          </p:cNvPr>
          <p:cNvSpPr/>
          <p:nvPr/>
        </p:nvSpPr>
        <p:spPr>
          <a:xfrm>
            <a:off x="61468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cellBase5">
            <a:extLst>
              <a:ext uri="{FF2B5EF4-FFF2-40B4-BE49-F238E27FC236}">
                <a16:creationId xmlns:a16="http://schemas.microsoft.com/office/drawing/2014/main" id="{4C0E11DA-E1CC-411D-175C-9AE67F318010}"/>
              </a:ext>
            </a:extLst>
          </p:cNvPr>
          <p:cNvSpPr/>
          <p:nvPr/>
        </p:nvSpPr>
        <p:spPr>
          <a:xfrm>
            <a:off x="74676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cellBase6">
            <a:extLst>
              <a:ext uri="{FF2B5EF4-FFF2-40B4-BE49-F238E27FC236}">
                <a16:creationId xmlns:a16="http://schemas.microsoft.com/office/drawing/2014/main" id="{D852DD20-06DE-600B-C146-258B7097C8C7}"/>
              </a:ext>
            </a:extLst>
          </p:cNvPr>
          <p:cNvSpPr/>
          <p:nvPr/>
        </p:nvSpPr>
        <p:spPr>
          <a:xfrm>
            <a:off x="87884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cellBase7">
            <a:extLst>
              <a:ext uri="{FF2B5EF4-FFF2-40B4-BE49-F238E27FC236}">
                <a16:creationId xmlns:a16="http://schemas.microsoft.com/office/drawing/2014/main" id="{B92AEEC8-0CFD-B617-41BA-5251AA0E6DE0}"/>
              </a:ext>
            </a:extLst>
          </p:cNvPr>
          <p:cNvSpPr/>
          <p:nvPr/>
        </p:nvSpPr>
        <p:spPr>
          <a:xfrm>
            <a:off x="10109200" y="2491432"/>
            <a:ext cx="1219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cellUse0">
            <a:extLst>
              <a:ext uri="{FF2B5EF4-FFF2-40B4-BE49-F238E27FC236}">
                <a16:creationId xmlns:a16="http://schemas.microsoft.com/office/drawing/2014/main" id="{BAD3287B-3721-86EB-B8B4-D1EB0E29929E}"/>
              </a:ext>
            </a:extLst>
          </p:cNvPr>
          <p:cNvSpPr/>
          <p:nvPr/>
        </p:nvSpPr>
        <p:spPr>
          <a:xfrm>
            <a:off x="863600" y="2491432"/>
            <a:ext cx="1219200" cy="558800"/>
          </a:xfrm>
          <a:prstGeom prst="rect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FFFFFF"/>
                </a:solidFill>
                <a:latin typeface="Segoe UI" panose="020B0502040204020203" pitchFamily="34" charset="0"/>
              </a:rPr>
              <a:t>사용 중</a:t>
            </a:r>
          </a:p>
        </p:txBody>
      </p:sp>
      <p:sp>
        <p:nvSpPr>
          <p:cNvPr id="20" name="cellUse1">
            <a:extLst>
              <a:ext uri="{FF2B5EF4-FFF2-40B4-BE49-F238E27FC236}">
                <a16:creationId xmlns:a16="http://schemas.microsoft.com/office/drawing/2014/main" id="{625BD416-3718-B1B0-7AE5-4A0CCE67F4E9}"/>
              </a:ext>
            </a:extLst>
          </p:cNvPr>
          <p:cNvSpPr/>
          <p:nvPr/>
        </p:nvSpPr>
        <p:spPr>
          <a:xfrm>
            <a:off x="2184400" y="2491432"/>
            <a:ext cx="1219200" cy="558800"/>
          </a:xfrm>
          <a:prstGeom prst="rect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FFFFFF"/>
                </a:solidFill>
                <a:latin typeface="Segoe UI" panose="020B0502040204020203" pitchFamily="34" charset="0"/>
              </a:rPr>
              <a:t>사용 중</a:t>
            </a:r>
          </a:p>
        </p:txBody>
      </p:sp>
      <p:sp>
        <p:nvSpPr>
          <p:cNvPr id="21" name="cellUse2">
            <a:extLst>
              <a:ext uri="{FF2B5EF4-FFF2-40B4-BE49-F238E27FC236}">
                <a16:creationId xmlns:a16="http://schemas.microsoft.com/office/drawing/2014/main" id="{3BAC7E8B-5717-A029-60EF-6F17B59FC91D}"/>
              </a:ext>
            </a:extLst>
          </p:cNvPr>
          <p:cNvSpPr/>
          <p:nvPr/>
        </p:nvSpPr>
        <p:spPr>
          <a:xfrm>
            <a:off x="3505200" y="2491432"/>
            <a:ext cx="1219200" cy="558800"/>
          </a:xfrm>
          <a:prstGeom prst="rect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FFFFFF"/>
                </a:solidFill>
                <a:latin typeface="Segoe UI" panose="020B0502040204020203" pitchFamily="34" charset="0"/>
              </a:rPr>
              <a:t>사용 중</a:t>
            </a:r>
          </a:p>
        </p:txBody>
      </p:sp>
      <p:sp>
        <p:nvSpPr>
          <p:cNvPr id="22" name="cellUse3">
            <a:extLst>
              <a:ext uri="{FF2B5EF4-FFF2-40B4-BE49-F238E27FC236}">
                <a16:creationId xmlns:a16="http://schemas.microsoft.com/office/drawing/2014/main" id="{FCD27515-F343-4776-0731-B1FC3B8FA6D6}"/>
              </a:ext>
            </a:extLst>
          </p:cNvPr>
          <p:cNvSpPr/>
          <p:nvPr/>
        </p:nvSpPr>
        <p:spPr>
          <a:xfrm>
            <a:off x="4826000" y="2491432"/>
            <a:ext cx="1219200" cy="558800"/>
          </a:xfrm>
          <a:prstGeom prst="rect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FFFFFF"/>
                </a:solidFill>
                <a:latin typeface="Segoe UI" panose="020B0502040204020203" pitchFamily="34" charset="0"/>
              </a:rPr>
              <a:t>사용 중</a:t>
            </a:r>
          </a:p>
        </p:txBody>
      </p:sp>
      <p:sp>
        <p:nvSpPr>
          <p:cNvPr id="23" name="cellUse4">
            <a:extLst>
              <a:ext uri="{FF2B5EF4-FFF2-40B4-BE49-F238E27FC236}">
                <a16:creationId xmlns:a16="http://schemas.microsoft.com/office/drawing/2014/main" id="{4A922108-59A9-09FF-519B-9B7EAE36FB76}"/>
              </a:ext>
            </a:extLst>
          </p:cNvPr>
          <p:cNvSpPr/>
          <p:nvPr/>
        </p:nvSpPr>
        <p:spPr>
          <a:xfrm>
            <a:off x="6146800" y="2491432"/>
            <a:ext cx="1219200" cy="558800"/>
          </a:xfrm>
          <a:prstGeom prst="rect">
            <a:avLst/>
          </a:prstGeom>
          <a:solidFill>
            <a:srgbClr val="2326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rgbClr val="FFFFFF"/>
                </a:solidFill>
                <a:latin typeface="Segoe UI" panose="020B0502040204020203" pitchFamily="34" charset="0"/>
              </a:rPr>
              <a:t>사용 중</a:t>
            </a:r>
          </a:p>
        </p:txBody>
      </p:sp>
      <p:sp>
        <p:nvSpPr>
          <p:cNvPr id="24" name="cellLeak2">
            <a:extLst>
              <a:ext uri="{FF2B5EF4-FFF2-40B4-BE49-F238E27FC236}">
                <a16:creationId xmlns:a16="http://schemas.microsoft.com/office/drawing/2014/main" id="{1F012034-FD28-BC12-A057-920775D21E31}"/>
              </a:ext>
            </a:extLst>
          </p:cNvPr>
          <p:cNvSpPr/>
          <p:nvPr/>
        </p:nvSpPr>
        <p:spPr>
          <a:xfrm>
            <a:off x="3505200" y="2491432"/>
            <a:ext cx="1219200" cy="5588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누수</a:t>
            </a:r>
            <a:r>
              <a:rPr lang="en-US" altLang="ko-KR" sz="1050" b="1">
                <a:solidFill>
                  <a:srgbClr val="FFFFFF"/>
                </a:solidFill>
                <a:latin typeface="Segoe UI" panose="020B0502040204020203" pitchFamily="34" charset="0"/>
              </a:rPr>
              <a:t>!</a:t>
            </a:r>
            <a:endParaRPr lang="ko-KR" altLang="en-US" sz="10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cellLeak4">
            <a:extLst>
              <a:ext uri="{FF2B5EF4-FFF2-40B4-BE49-F238E27FC236}">
                <a16:creationId xmlns:a16="http://schemas.microsoft.com/office/drawing/2014/main" id="{8D684433-78D1-7395-0C79-ED32A4E2BB81}"/>
              </a:ext>
            </a:extLst>
          </p:cNvPr>
          <p:cNvSpPr/>
          <p:nvPr/>
        </p:nvSpPr>
        <p:spPr>
          <a:xfrm>
            <a:off x="6146800" y="2491432"/>
            <a:ext cx="1219200" cy="5588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누수</a:t>
            </a:r>
            <a:r>
              <a:rPr lang="en-US" altLang="ko-KR" sz="1050" b="1">
                <a:solidFill>
                  <a:srgbClr val="FFFFFF"/>
                </a:solidFill>
                <a:latin typeface="Segoe UI" panose="020B0502040204020203" pitchFamily="34" charset="0"/>
              </a:rPr>
              <a:t>!</a:t>
            </a:r>
            <a:endParaRPr lang="ko-KR" altLang="en-US" sz="10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8FE440-B96A-A360-7E9F-F7CDC227F818}"/>
              </a:ext>
            </a:extLst>
          </p:cNvPr>
          <p:cNvSpPr txBox="1"/>
          <p:nvPr/>
        </p:nvSpPr>
        <p:spPr>
          <a:xfrm>
            <a:off x="711200" y="3228032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↑ 작업대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반납을 잊은 칸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누수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은 비어 보여도 아무도 못 쓴다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쌓이면 작업대가 가득 찬다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(→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디버깅 장의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OOM).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93DEA4-C140-1DE6-AED7-A6CA5B16081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565CB-533C-0502-A64D-21076DB919EA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9E7D6-B182-8CD5-9EBC-3E39FCF6BAE3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설거지는 누가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부담은 이동할 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6A06DE-4279-8057-91AD-22F8977D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94508"/>
              </p:ext>
            </p:extLst>
          </p:nvPr>
        </p:nvGraphicFramePr>
        <p:xfrm>
          <a:off x="711200" y="1270000"/>
          <a:ext cx="10769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461268528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295670158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509314584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625891036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언어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누가 치우나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개발자 부담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컴퓨터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런타임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)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부담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570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직접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malloc/free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높음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누수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이중 해제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23324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C++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범위 벗어나면 자동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RAII·unique_ptr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중간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낮음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407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Java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GC(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청소부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 알아서 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높음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GC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비용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여유 메모리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673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참조 카운팅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GC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낮음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중간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즉시 회수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순환만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GC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059363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55446B59-85B0-0318-7644-B4E2ABF2492E}"/>
              </a:ext>
            </a:extLst>
          </p:cNvPr>
          <p:cNvSpPr/>
          <p:nvPr/>
        </p:nvSpPr>
        <p:spPr>
          <a:xfrm>
            <a:off x="711200" y="28956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37AAF-C724-99B3-5DD1-5936F9B7AD5D}"/>
              </a:ext>
            </a:extLst>
          </p:cNvPr>
          <p:cNvSpPr txBox="1"/>
          <p:nvPr/>
        </p:nvSpPr>
        <p:spPr>
          <a:xfrm>
            <a:off x="889000" y="281940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부담은 사라지지 않는다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GC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개발자의 설거지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를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기계의 설거지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옮긴 것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그래서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GC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언어는 같은 일에 메모리를 더 쓰는 경향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026292C-8494-69C6-D7D6-0BD86A03B165}"/>
              </a:ext>
            </a:extLst>
          </p:cNvPr>
          <p:cNvSpPr/>
          <p:nvPr/>
        </p:nvSpPr>
        <p:spPr>
          <a:xfrm>
            <a:off x="711200" y="31718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ADAF6-3F3B-C53A-224E-053625B10A1F}"/>
              </a:ext>
            </a:extLst>
          </p:cNvPr>
          <p:cNvSpPr txBox="1"/>
          <p:nvPr/>
        </p:nvSpPr>
        <p:spPr>
          <a:xfrm>
            <a:off x="889000" y="309565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빨리 안 비워 주면 낭비가 쌓이고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회수가 돌 때 일시 멈춤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(pause)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생긴다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4E783A1-8626-A752-AFED-5FD1F598AE53}"/>
              </a:ext>
            </a:extLst>
          </p:cNvPr>
          <p:cNvSpPr/>
          <p:nvPr/>
        </p:nvSpPr>
        <p:spPr>
          <a:xfrm>
            <a:off x="711200" y="34481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9109DC-5398-2432-AEC1-20691A18D3B6}"/>
              </a:ext>
            </a:extLst>
          </p:cNvPr>
          <p:cNvSpPr txBox="1"/>
          <p:nvPr/>
        </p:nvSpPr>
        <p:spPr>
          <a:xfrm>
            <a:off x="889000" y="337191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C++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판이 난수원을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unique_ptr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소유하는 게 바로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누가 언제 치우나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를 코드로 정하는 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27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BD67C5-6790-CCF9-450F-7347B3BE0027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F9C0F-D3D1-23E1-3AF6-4CBFA3F6E214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E0DC8-694B-F7CF-B996-19151A159F87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GC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가 있어도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관리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는 사라지지 않는다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FCA35-1C4D-456A-6EDC-31D08C372D98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규모가 커지면 관리 대상이 바뀔 뿐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관리는 돌아온다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GC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참조가 끊긴 것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만 회수하기 때문에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JVM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에서도 누수는 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: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3848E1C-B083-20DD-C3FB-86F2537B0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422477"/>
              </p:ext>
            </p:extLst>
          </p:nvPr>
        </p:nvGraphicFramePr>
        <p:xfrm>
          <a:off x="711200" y="1627832"/>
          <a:ext cx="10769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340712519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405677524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누수 유형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왜 못 치우나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3068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살아 있는 참조 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static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컬렉션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무한 캐시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해제 안 한 리스너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GC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는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아직 쓰는 중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으로 보고 원리상 못 치운다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340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ClassLoader / Metaspace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재배포를 반복하면 클래스가 안 내려가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Metaspace OOM 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레거시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WAS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단골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4051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ThreadLocal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스레드풀에서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remove()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를 안 하면 스레드가 사는 한 같이 산다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7764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네이티브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/ DirectByteBuffer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힙 밖이라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GC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시야 밖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-Xmx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를 아무리 늘려도 안 잡힌다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054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E7DBFF-0C63-A250-898F-F9FDADC6A43C}"/>
              </a:ext>
            </a:extLst>
          </p:cNvPr>
          <p:cNvSpPr txBox="1"/>
          <p:nvPr/>
        </p:nvSpPr>
        <p:spPr>
          <a:xfrm>
            <a:off x="711200" y="3309312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그래서 고급 과정엔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GC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선택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(JDK 8 Parallel → 9+ G1 → ZGC)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과 힙 튜닝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(-Xmx·GC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로그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힙 덤프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 등장한다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낭비가 한계에 닿은 극단이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OOM,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디버깅 장에서 실전으로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13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ADC6D1-B7D7-B80A-1613-3275EFD8826A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08DE4-DE98-C982-CF06-3BF8C197CDDA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CS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기초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E7E5E-5977-9EAD-F9A1-778433F8B10F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강점과 약점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D94E7-6C7F-45E2-387F-91401D9BC5AB}"/>
              </a:ext>
            </a:extLst>
          </p:cNvPr>
          <p:cNvSpPr txBox="1"/>
          <p:nvPr/>
        </p:nvSpPr>
        <p:spPr>
          <a:xfrm>
            <a:off x="7112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강점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사람의 시간을 아낀다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F033B5F-92A3-9317-A1B1-D403E9550BDE}"/>
              </a:ext>
            </a:extLst>
          </p:cNvPr>
          <p:cNvSpPr/>
          <p:nvPr/>
        </p:nvSpPr>
        <p:spPr>
          <a:xfrm>
            <a:off x="7112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A7AC7-8058-6E94-BFEA-BA741F320C1E}"/>
              </a:ext>
            </a:extLst>
          </p:cNvPr>
          <p:cNvSpPr txBox="1"/>
          <p:nvPr/>
        </p:nvSpPr>
        <p:spPr>
          <a:xfrm>
            <a:off x="8890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빌드 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짧은 실행 사이클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EFD5420-25F1-6818-C40C-EC8CECF309CB}"/>
              </a:ext>
            </a:extLst>
          </p:cNvPr>
          <p:cNvSpPr/>
          <p:nvPr/>
        </p:nvSpPr>
        <p:spPr>
          <a:xfrm>
            <a:off x="7112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4160A-24EB-A8D6-C31C-C53DD19B73C7}"/>
              </a:ext>
            </a:extLst>
          </p:cNvPr>
          <p:cNvSpPr txBox="1"/>
          <p:nvPr/>
        </p:nvSpPr>
        <p:spPr>
          <a:xfrm>
            <a:off x="8890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적은 코드량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동적 타입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풍부한 표준 라이브러리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3CB41F5-2E35-2C7B-A911-84C95B8C244D}"/>
              </a:ext>
            </a:extLst>
          </p:cNvPr>
          <p:cNvSpPr/>
          <p:nvPr/>
        </p:nvSpPr>
        <p:spPr>
          <a:xfrm>
            <a:off x="7112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F345D-4D1C-408A-EC85-8812F779F093}"/>
              </a:ext>
            </a:extLst>
          </p:cNvPr>
          <p:cNvSpPr txBox="1"/>
          <p:nvPr/>
        </p:nvSpPr>
        <p:spPr>
          <a:xfrm>
            <a:off x="889000" y="21087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배터리 포함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secrets·enum·dataclasses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기본 제공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A0441BE-116B-B6F8-6A5C-39679EF08742}"/>
              </a:ext>
            </a:extLst>
          </p:cNvPr>
          <p:cNvSpPr/>
          <p:nvPr/>
        </p:nvSpPr>
        <p:spPr>
          <a:xfrm>
            <a:off x="711200" y="24612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63653-E601-AEAE-E307-C0B5143F3646}"/>
              </a:ext>
            </a:extLst>
          </p:cNvPr>
          <p:cNvSpPr txBox="1"/>
          <p:nvPr/>
        </p:nvSpPr>
        <p:spPr>
          <a:xfrm>
            <a:off x="889000" y="238503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유니코드 기본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CJK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처리에 별도 코드 불필요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8365F-786B-7861-67B7-A92A15B444CE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약점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기계의 시간을 쓴다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296D7C6-9A08-A50E-A7B9-CFBB0F50AACF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3BA06F-1374-27D7-9B46-1762B5086296}"/>
              </a:ext>
            </a:extLst>
          </p:cNvPr>
          <p:cNvSpPr txBox="1"/>
          <p:nvPr/>
        </p:nvSpPr>
        <p:spPr>
          <a:xfrm>
            <a:off x="64262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실행 속도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C/C++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보다 느림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수십 배까지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539ACB7-6CE6-8E67-20A6-4B23BB72E1FC}"/>
              </a:ext>
            </a:extLst>
          </p:cNvPr>
          <p:cNvSpPr/>
          <p:nvPr/>
        </p:nvSpPr>
        <p:spPr>
          <a:xfrm>
            <a:off x="62484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89487-FAFD-AF93-DB5A-45899B833803}"/>
              </a:ext>
            </a:extLst>
          </p:cNvPr>
          <p:cNvSpPr txBox="1"/>
          <p:nvPr/>
        </p:nvSpPr>
        <p:spPr>
          <a:xfrm>
            <a:off x="64262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런타임 타입 오류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정적 검사 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타입 힌트로 완화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ABD7A55-BE23-FC12-1AD9-F269C5AD57ED}"/>
              </a:ext>
            </a:extLst>
          </p:cNvPr>
          <p:cNvSpPr/>
          <p:nvPr/>
        </p:nvSpPr>
        <p:spPr>
          <a:xfrm>
            <a:off x="62484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0D020-B9A0-E6C1-12E8-E6D1F01629B5}"/>
              </a:ext>
            </a:extLst>
          </p:cNvPr>
          <p:cNvSpPr txBox="1"/>
          <p:nvPr/>
        </p:nvSpPr>
        <p:spPr>
          <a:xfrm>
            <a:off x="6426200" y="21087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GIL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순수 파이썬 멀티스레드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CPU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병렬 제한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5B6BC43-A893-F2D4-B2CC-2A40451141D3}"/>
              </a:ext>
            </a:extLst>
          </p:cNvPr>
          <p:cNvSpPr/>
          <p:nvPr/>
        </p:nvSpPr>
        <p:spPr>
          <a:xfrm>
            <a:off x="6248400" y="24612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6BDA3B-0FB1-BD1A-48E9-CBDC78C504E6}"/>
              </a:ext>
            </a:extLst>
          </p:cNvPr>
          <p:cNvSpPr txBox="1"/>
          <p:nvPr/>
        </p:nvSpPr>
        <p:spPr>
          <a:xfrm>
            <a:off x="6426200" y="238503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배포 무게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인터프리터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의존성 동봉</a:t>
            </a:r>
          </a:p>
        </p:txBody>
      </p:sp>
    </p:spTree>
    <p:extLst>
      <p:ext uri="{BB962C8B-B14F-4D97-AF65-F5344CB8AC3E}">
        <p14:creationId xmlns:p14="http://schemas.microsoft.com/office/powerpoint/2010/main" val="184931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E7130F8-04B7-9152-12A9-4D1E31F25FDB}"/>
              </a:ext>
            </a:extLst>
          </p:cNvPr>
          <p:cNvSpPr/>
          <p:nvPr/>
        </p:nvSpPr>
        <p:spPr>
          <a:xfrm>
            <a:off x="6248400" y="1270000"/>
            <a:ext cx="5232400" cy="1774637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41BF93-3F98-CCE0-988A-1A13CAE1EE93}"/>
              </a:ext>
            </a:extLst>
          </p:cNvPr>
          <p:cNvSpPr/>
          <p:nvPr/>
        </p:nvSpPr>
        <p:spPr>
          <a:xfrm>
            <a:off x="711200" y="1270000"/>
            <a:ext cx="5232400" cy="202855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D0C3E7-7F01-D87C-CAEB-7EAD72622D70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62C6F-926B-8078-12FA-1B1151274C6A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02 · Python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환경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19A48-4AF2-C962-8D6A-B15210235F69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엔진과 연료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그리고 왜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상자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가 필요한가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29807-9742-683A-E038-5A16D072C370}"/>
              </a:ext>
            </a:extLst>
          </p:cNvPr>
          <p:cNvSpPr txBox="1"/>
          <p:nvPr/>
        </p:nvSpPr>
        <p:spPr>
          <a:xfrm>
            <a:off x="838200" y="1625600"/>
            <a:ext cx="2975173" cy="149515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python.exe  +  game.py   ──▶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실행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엔진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        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연료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전역 하나를 모두가 공유하면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프로젝트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A → fastapi 0.110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필요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프로젝트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B → fastapi 0.95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필요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충돌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!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37453-49A1-79D7-E9B8-B76E90EEA1A5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인터프리터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엔진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F6EE1-553C-BF9B-C5E6-FB5A1FED20DA}"/>
              </a:ext>
            </a:extLst>
          </p:cNvPr>
          <p:cNvSpPr txBox="1"/>
          <p:nvPr/>
        </p:nvSpPr>
        <p:spPr>
          <a:xfrm>
            <a:off x="6375400" y="1625600"/>
            <a:ext cx="3539430" cy="12412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전역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python.exe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└── .venv/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 프로젝트만의 상자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├──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Scripts/python.exe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├── Scripts/pip.exe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└── Lib/site-packages/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여기에만 설치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0DCC9-E279-5832-5275-6833AAD97136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가상환경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프로젝트 전용 상자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0E29E-3FEC-2C44-96B9-269821717DA6}"/>
              </a:ext>
            </a:extLst>
          </p:cNvPr>
          <p:cNvSpPr txBox="1"/>
          <p:nvPr/>
        </p:nvSpPr>
        <p:spPr>
          <a:xfrm>
            <a:off x="6248400" y="3171637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프로젝트마다 상자를 따로 → 버전 충돌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오염 방지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 .venv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는 커밋하지 않는다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각자 만든다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991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05FDE7-9B13-D5EA-F34F-8F68090CF4B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52CFE-3A36-845F-D6EB-3BA7EB8CDFDF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02 · Python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환경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259F5-568C-4F25-B7E9-9E6EE67A5B8A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도구 지도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역할로 나누면 정리된다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72FA6-55B1-67E4-D894-A24B5C836267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① 파이썬 버전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· ②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가상환경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· ③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패키지 설치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· ④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잠금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(lock) · ⑤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운영 서버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534C13-7374-A84D-2C4D-FC6C1EA90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96456"/>
              </p:ext>
            </p:extLst>
          </p:nvPr>
        </p:nvGraphicFramePr>
        <p:xfrm>
          <a:off x="711200" y="1627832"/>
          <a:ext cx="107696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268620756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379788264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도구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역할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설명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95563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venv · pip (②③)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표준 가상환경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설치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가장 기본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25568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uv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⭐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(①②③④)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버전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환경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설치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잠금을 초고속 통합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권장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8589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poetry (②③④)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의존성 관리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패키징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·PyPI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배포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52762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conda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⭐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(①②③)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파이썬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네이티브 스택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(CUDA·MKL)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까지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AI/ML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연구실의 주력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72768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gunicorn · uvicorn (⑤)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운영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개발 웹 서버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gunicorn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은 리눅스용 →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WSL·Docker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로 배포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10625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pyenv (①)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파이썬 버전 전환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(uv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 흡수 중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).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031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77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33A282-B425-4F39-309B-56E763AB4ACA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E470A-2186-B732-C436-E7316372172B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02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의존성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&amp;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버전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2BC20-A96C-5BF6-CA37-16C654111144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고정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(pinning) vs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범위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하한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상한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F7E1160-5B09-4EA8-1751-8A5347A2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781453"/>
              </p:ext>
            </p:extLst>
          </p:nvPr>
        </p:nvGraphicFramePr>
        <p:xfrm>
          <a:off x="711200" y="1270000"/>
          <a:ext cx="5232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256028553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94071901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표기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의미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2675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==1.2.3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정확히 그 버전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고정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/pinning)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75134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&gt;=1.2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이상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하한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, lower bound)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0988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&lt;=1.2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상한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, upper bound)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006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&gt;=1.2,&lt;2.0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범위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9145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~=1.2.3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호환 범위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(=1.2.*)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8046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5D8AC1-43BB-D959-5BEC-38B1D43ED685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pyproject.toml vs requirements.txt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FCDCB21-0C83-E3ED-2894-8D78A0714FF2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04506-991F-4E14-9DC7-775549922985}"/>
              </a:ext>
            </a:extLst>
          </p:cNvPr>
          <p:cNvSpPr txBox="1"/>
          <p:nvPr/>
        </p:nvSpPr>
        <p:spPr>
          <a:xfrm>
            <a:off x="64262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pyproject.toml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프로젝트 정의서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레시피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보통 느슨한 범위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B3368E1-4FB6-9291-F8D6-E2FFD1C9D57E}"/>
              </a:ext>
            </a:extLst>
          </p:cNvPr>
          <p:cNvSpPr/>
          <p:nvPr/>
        </p:nvSpPr>
        <p:spPr>
          <a:xfrm>
            <a:off x="62484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F5033B-587B-9E1F-C02D-769F2D6B3EB3}"/>
              </a:ext>
            </a:extLst>
          </p:cNvPr>
          <p:cNvSpPr txBox="1"/>
          <p:nvPr/>
        </p:nvSpPr>
        <p:spPr>
          <a:xfrm>
            <a:off x="64262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requirements.txt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설치할 목록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장보기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정확히 고정도 가능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60403B7-6CBA-0DDB-AE6D-C227187217F2}"/>
              </a:ext>
            </a:extLst>
          </p:cNvPr>
          <p:cNvSpPr/>
          <p:nvPr/>
        </p:nvSpPr>
        <p:spPr>
          <a:xfrm>
            <a:off x="62484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40D44-3427-EDE4-0E7E-F5C648904816}"/>
              </a:ext>
            </a:extLst>
          </p:cNvPr>
          <p:cNvSpPr txBox="1"/>
          <p:nvPr/>
        </p:nvSpPr>
        <p:spPr>
          <a:xfrm>
            <a:off x="6426200" y="21087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lock(uv.lock·poetry.lock)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하위 의존성까지 정확 재현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AC553-2D8F-2436-1E59-97C5E4E50A04}"/>
              </a:ext>
            </a:extLst>
          </p:cNvPr>
          <p:cNvSpPr txBox="1"/>
          <p:nvPr/>
        </p:nvSpPr>
        <p:spPr>
          <a:xfrm>
            <a:off x="6248400" y="2435831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범위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자동 버그픽스 ↔ 깨질 위험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고정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재현성 ↔ 수동 갱신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 requires-python="&gt;=3.11"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도 같은 개념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파이썬 버전 제약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9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A93A04-0C5E-1D3F-2301-25DD8CCF866D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15615-CBF8-69BB-AB4F-879D3E29A534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Python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문법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62243-B022-4B8E-2FE3-EEE6A2FF3E4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변수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함수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클래스가 뭔가요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? (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비유로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6AF1DCF-5705-0E22-E06C-250F0D4F4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12620"/>
              </p:ext>
            </p:extLst>
          </p:nvPr>
        </p:nvGraphicFramePr>
        <p:xfrm>
          <a:off x="711200" y="1270000"/>
          <a:ext cx="107696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2010427547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109641247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43403549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개념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비유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한 줄 설명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096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이름표 붙은 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값을 넣어 두고 이름으로 꺼내 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player = Hand.ROCK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2007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함수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재료를 넣으면 결과를 주는 기계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입력 → 정해진 일 → 결과 반환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judge(...)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1295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클래스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붕어빵 틀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설계도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같은 구조를 여러 개 찍음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찍힌 하나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=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인스턴스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844193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303EE005-6AA8-3F91-6345-2C309FF42DF6}"/>
              </a:ext>
            </a:extLst>
          </p:cNvPr>
          <p:cNvSpPr/>
          <p:nvPr/>
        </p:nvSpPr>
        <p:spPr>
          <a:xfrm>
            <a:off x="711200" y="261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EA977-DAFB-040E-A298-70BD28569E27}"/>
              </a:ext>
            </a:extLst>
          </p:cNvPr>
          <p:cNvSpPr txBox="1"/>
          <p:nvPr/>
        </p:nvSpPr>
        <p:spPr>
          <a:xfrm>
            <a:off x="889000" y="254000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대입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상자에 값을 넣어라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수학의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아님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CAE1884-9583-8605-EE40-303E6C9D8532}"/>
              </a:ext>
            </a:extLst>
          </p:cNvPr>
          <p:cNvSpPr/>
          <p:nvPr/>
        </p:nvSpPr>
        <p:spPr>
          <a:xfrm>
            <a:off x="711200" y="289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D6A7C-0C92-7C87-3B1D-030FA58A59D0}"/>
              </a:ext>
            </a:extLst>
          </p:cNvPr>
          <p:cNvSpPr txBox="1"/>
          <p:nvPr/>
        </p:nvSpPr>
        <p:spPr>
          <a:xfrm>
            <a:off x="889000" y="281625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호출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judge(a, b)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기계를 작동시키는 것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이름 뒤 괄호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709ECC4-280F-3603-C78A-FC45A61110E7}"/>
              </a:ext>
            </a:extLst>
          </p:cNvPr>
          <p:cNvSpPr/>
          <p:nvPr/>
        </p:nvSpPr>
        <p:spPr>
          <a:xfrm>
            <a:off x="711200" y="31687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F0C4EA-CBFA-4D35-BC3E-187228560F49}"/>
              </a:ext>
            </a:extLst>
          </p:cNvPr>
          <p:cNvSpPr txBox="1"/>
          <p:nvPr/>
        </p:nvSpPr>
        <p:spPr>
          <a:xfrm>
            <a:off x="889000" y="3092510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반환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return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함수가 결과를 돌려주는 것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3EB3756-573E-E9F1-8C06-3EF34A5AD095}"/>
              </a:ext>
            </a:extLst>
          </p:cNvPr>
          <p:cNvSpPr/>
          <p:nvPr/>
        </p:nvSpPr>
        <p:spPr>
          <a:xfrm>
            <a:off x="711200" y="34449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89984-DDB5-8780-5850-C10EA9D9D669}"/>
              </a:ext>
            </a:extLst>
          </p:cNvPr>
          <p:cNvSpPr txBox="1"/>
          <p:nvPr/>
        </p:nvSpPr>
        <p:spPr>
          <a:xfrm>
            <a:off x="889000" y="3368765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매개변수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함수에 넣어 주는 값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그걸 받는 이름</a:t>
            </a:r>
          </a:p>
        </p:txBody>
      </p:sp>
    </p:spTree>
    <p:extLst>
      <p:ext uri="{BB962C8B-B14F-4D97-AF65-F5344CB8AC3E}">
        <p14:creationId xmlns:p14="http://schemas.microsoft.com/office/powerpoint/2010/main" val="1417296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3C06F9-669C-3DD9-FF0F-7B3C45335A5B}"/>
              </a:ext>
            </a:extLst>
          </p:cNvPr>
          <p:cNvSpPr/>
          <p:nvPr/>
        </p:nvSpPr>
        <p:spPr>
          <a:xfrm>
            <a:off x="711200" y="1270000"/>
            <a:ext cx="5232400" cy="228362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7A0244-723B-49CE-B581-3C71A7CD7DA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755682-11A7-6D31-55FA-2B0384DD5E05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변수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209D5-F53A-6D1E-C7B5-8885CE94C241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선언 없이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값이 곧 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2DAF5-E4C1-0D20-9C90-29410D78F04D}"/>
              </a:ext>
            </a:extLst>
          </p:cNvPr>
          <p:cNvSpPr txBox="1"/>
          <p:nvPr/>
        </p:nvSpPr>
        <p:spPr>
          <a:xfrm>
            <a:off x="838200" y="1625600"/>
            <a:ext cx="4514056" cy="17502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player = Hand.ROCK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상자에 넣으면 끝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player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Hand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computer = Hand(2)        # SCISSORS 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숫자로 되찾기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diff = (player - computer + 3) % 3   # diff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int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타입 힌트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붙여도 되고 안 붙여도 되는 안전 표시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parse_hand(text: str) -&gt; Hand: ...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_ALIASES: dict[str, Hand] = { ... 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8B90-BDFA-DE11-B970-4F2DAEE48B50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game.py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C3D7388-B044-C357-6CDD-A8E54BCED68D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3C131-9017-D3F4-A1A7-955C6DBB29E0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Java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Hand player = ...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타입 선언이 없다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대입이 곧 생성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333BC98-47F6-380D-EBA5-8401A07F9D0C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57257-AD73-EB0F-5493-7E463DC070A7}"/>
              </a:ext>
            </a:extLst>
          </p:cNvPr>
          <p:cNvSpPr txBox="1"/>
          <p:nvPr/>
        </p:nvSpPr>
        <p:spPr>
          <a:xfrm>
            <a:off x="6426200" y="154625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힌트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(text: str)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실행에 영향 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mypy·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에디터가 읽어 실수를 미리 경고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A26DE9D-2C49-B21D-E989-C25D64E6A524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333D7-1946-4E21-2F9E-A9DAC8B442CB}"/>
              </a:ext>
            </a:extLst>
          </p:cNvPr>
          <p:cNvSpPr txBox="1"/>
          <p:nvPr/>
        </p:nvSpPr>
        <p:spPr>
          <a:xfrm>
            <a:off x="6426200" y="20225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const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대문자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(_ALIASES)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상수 취급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관례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BE26DD5-CC7D-E202-F054-76B6E22FF30D}"/>
              </a:ext>
            </a:extLst>
          </p:cNvPr>
          <p:cNvSpPr/>
          <p:nvPr/>
        </p:nvSpPr>
        <p:spPr>
          <a:xfrm>
            <a:off x="6248400" y="23750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E057B-E834-C059-DD86-D674AD7B568A}"/>
              </a:ext>
            </a:extLst>
          </p:cNvPr>
          <p:cNvSpPr txBox="1"/>
          <p:nvPr/>
        </p:nvSpPr>
        <p:spPr>
          <a:xfrm>
            <a:off x="6426200" y="22988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앞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_ = 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모듈 내부용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관례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강제 아님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586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B4E3D38-2E2C-C053-4027-AA7D6BBE9B8E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59B8B4-0D4D-1D02-3418-2244E041150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BBBFF-27CE-B2D6-EE63-5BD33908BA9C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함수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52F32-B935-1443-60F5-4694D23A3CD0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def 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기본값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그리고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함수도 값이다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BEFA7-C512-0031-EE33-70B60C2CA274}"/>
              </a:ext>
            </a:extLst>
          </p:cNvPr>
          <p:cNvSpPr txBox="1"/>
          <p:nvPr/>
        </p:nvSpPr>
        <p:spPr>
          <a:xfrm>
            <a:off x="838200" y="1625600"/>
            <a:ext cx="3936975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judge(player: Hand, computer: Hand) -&gt; Outcome: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diff = (player - computer + 3) % 3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return (DRAW, WIN, LOSE)[diff]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main(argv=None):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기본값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안 주면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None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...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entered = input("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손을 입력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").strip()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한 줄 입력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f = judge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괄호 없음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함수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자체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를 담음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f(p, c)  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담아 둔 함수를 호출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일급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!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FCCFF-41AE-22AB-898F-126853593161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game.py · cli.py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926A97-F9A9-8677-60AC-140159AB6A5B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AFFD3-06C4-5712-8869-09511AC60E74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본문은 들여쓰기로 구분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중괄호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{ }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없음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903E7DA-348C-4B7F-90BB-083DE196539A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2E417-0EDF-B019-E40B-9F0430FB95CA}"/>
              </a:ext>
            </a:extLst>
          </p:cNvPr>
          <p:cNvSpPr txBox="1"/>
          <p:nvPr/>
        </p:nvSpPr>
        <p:spPr>
          <a:xfrm>
            <a:off x="6426200" y="154625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클래스 밖 자유 함수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OK — Java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처럼 전부 클래스에 넣지 않아도 된다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873E9BA-7D74-4953-0887-492D2275E01F}"/>
              </a:ext>
            </a:extLst>
          </p:cNvPr>
          <p:cNvSpPr/>
          <p:nvPr/>
        </p:nvSpPr>
        <p:spPr>
          <a:xfrm>
            <a:off x="6248400" y="18987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0A4AA-9E78-0EDA-4291-00ABCF1AA509}"/>
              </a:ext>
            </a:extLst>
          </p:cNvPr>
          <p:cNvSpPr txBox="1"/>
          <p:nvPr/>
        </p:nvSpPr>
        <p:spPr>
          <a:xfrm>
            <a:off x="6426200" y="18225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기본 인자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호출 시 생략 가능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None = 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값 없음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"(Java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null).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67639E3-5B11-C7AB-9C6C-5C58821BA3C6}"/>
              </a:ext>
            </a:extLst>
          </p:cNvPr>
          <p:cNvSpPr/>
          <p:nvPr/>
        </p:nvSpPr>
        <p:spPr>
          <a:xfrm>
            <a:off x="6248400" y="21749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869B5-8372-3B9D-2725-289A05B34519}"/>
              </a:ext>
            </a:extLst>
          </p:cNvPr>
          <p:cNvSpPr txBox="1"/>
          <p:nvPr/>
        </p:nvSpPr>
        <p:spPr>
          <a:xfrm>
            <a:off x="6426200" y="20987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input()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 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Java Scanner / C++ getline.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837F7B-BF9C-75A3-3463-812811970181}"/>
              </a:ext>
            </a:extLst>
          </p:cNvPr>
          <p:cNvSpPr/>
          <p:nvPr/>
        </p:nvSpPr>
        <p:spPr>
          <a:xfrm>
            <a:off x="6248400" y="24512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BA644-61CD-6CA0-C819-6B838FB7EA31}"/>
              </a:ext>
            </a:extLst>
          </p:cNvPr>
          <p:cNvSpPr txBox="1"/>
          <p:nvPr/>
        </p:nvSpPr>
        <p:spPr>
          <a:xfrm>
            <a:off x="6426200" y="237502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일급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(first-class)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객체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①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변수에 담고 ②인자로 넘기고 ③반환하고 ④자료구조에 넣을 수 있는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완전한 값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C1E7E6C-85E4-D086-4784-72A057844742}"/>
              </a:ext>
            </a:extLst>
          </p:cNvPr>
          <p:cNvSpPr/>
          <p:nvPr/>
        </p:nvSpPr>
        <p:spPr>
          <a:xfrm>
            <a:off x="6248400" y="292753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B563C-5256-3D55-929F-3F16393A4770}"/>
              </a:ext>
            </a:extLst>
          </p:cNvPr>
          <p:cNvSpPr txBox="1"/>
          <p:nvPr/>
        </p:nvSpPr>
        <p:spPr>
          <a:xfrm>
            <a:off x="6426200" y="285133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함정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judge(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괄호 없음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)=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 자체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 judge()=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호출 결과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rng=secrets.randbelow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 괄호가 없는 이유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96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98307D-A2BC-DF48-FBF4-DD681BE42892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91470-3431-A9EB-0161-BC074F886CD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쏟아지는 질문들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971CE-71AA-6833-7E35-8D8C3D99E384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변수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?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상수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?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일급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?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D0D54-6791-0BF0-935F-B6FAE010223C}"/>
              </a:ext>
            </a:extLst>
          </p:cNvPr>
          <p:cNvSpPr txBox="1"/>
          <p:nvPr/>
        </p:nvSpPr>
        <p:spPr>
          <a:xfrm>
            <a:off x="7112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변수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變數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 ↔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상수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常數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EE43664-7E64-395B-EE42-27912E697141}"/>
              </a:ext>
            </a:extLst>
          </p:cNvPr>
          <p:cNvSpPr/>
          <p:nvPr/>
        </p:nvSpPr>
        <p:spPr>
          <a:xfrm>
            <a:off x="7112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977B5-E6EA-5B8C-C1D1-2C32E4AF82B9}"/>
              </a:ext>
            </a:extLst>
          </p:cNvPr>
          <p:cNvSpPr txBox="1"/>
          <p:nvPr/>
        </p:nvSpPr>
        <p:spPr>
          <a:xfrm>
            <a:off x="8890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변수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變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변할 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셈 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다시 대입해 바꿀 수 있는 이름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EA7C9A3-C9E1-213A-E236-301847D65CED}"/>
              </a:ext>
            </a:extLst>
          </p:cNvPr>
          <p:cNvSpPr/>
          <p:nvPr/>
        </p:nvSpPr>
        <p:spPr>
          <a:xfrm>
            <a:off x="7112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E6770-F437-9843-20B7-AD6505C6C8E6}"/>
              </a:ext>
            </a:extLst>
          </p:cNvPr>
          <p:cNvSpPr txBox="1"/>
          <p:nvPr/>
        </p:nvSpPr>
        <p:spPr>
          <a:xfrm>
            <a:off x="889000" y="183252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상수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항상 상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— C++ const·Java final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재대입 금지를 컴파일러로 강제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23E016D-9F6E-B16D-3589-DFD9E5CFA9CF}"/>
              </a:ext>
            </a:extLst>
          </p:cNvPr>
          <p:cNvSpPr/>
          <p:nvPr/>
        </p:nvSpPr>
        <p:spPr>
          <a:xfrm>
            <a:off x="711200" y="23850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6D92B-6712-65A0-E9B3-13B50017A0A7}"/>
              </a:ext>
            </a:extLst>
          </p:cNvPr>
          <p:cNvSpPr txBox="1"/>
          <p:nvPr/>
        </p:nvSpPr>
        <p:spPr>
          <a:xfrm>
            <a:off x="889000" y="230883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파이썬에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const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없는 이유 ①철학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우리는 모두 책임질 줄 아는 어른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강제 대신 대문자 관례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E5CEE3-1E8C-EA01-730E-8CA0962ED96A}"/>
              </a:ext>
            </a:extLst>
          </p:cNvPr>
          <p:cNvSpPr/>
          <p:nvPr/>
        </p:nvSpPr>
        <p:spPr>
          <a:xfrm>
            <a:off x="711200" y="286134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E01EA-2EFF-BAD8-BFF7-E9ED316FE0AF}"/>
              </a:ext>
            </a:extLst>
          </p:cNvPr>
          <p:cNvSpPr txBox="1"/>
          <p:nvPr/>
        </p:nvSpPr>
        <p:spPr>
          <a:xfrm>
            <a:off x="889000" y="278514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②변수가 상자가 아니라 이름표라 고정 장치가 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Final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힌트는 도구가 검사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66AEC20-6103-D23E-6868-35EEF07F50B0}"/>
              </a:ext>
            </a:extLst>
          </p:cNvPr>
          <p:cNvSpPr/>
          <p:nvPr/>
        </p:nvSpPr>
        <p:spPr>
          <a:xfrm>
            <a:off x="711200" y="333765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E6A5B-1654-A5E3-482D-6B8FDFB1E2A8}"/>
              </a:ext>
            </a:extLst>
          </p:cNvPr>
          <p:cNvSpPr txBox="1"/>
          <p:nvPr/>
        </p:nvSpPr>
        <p:spPr>
          <a:xfrm>
            <a:off x="889000" y="326145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③대신 값을 불변으로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tuple·frozen dataclass·Enum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멤버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6C6FEA-B811-B309-A2FB-793F35873E94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일급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(first-class) =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시민권 등급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3C42487-C6C8-3769-B2AB-A40E104B2BA6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4D1C80-232B-B691-0B07-EAB346AD7C07}"/>
              </a:ext>
            </a:extLst>
          </p:cNvPr>
          <p:cNvSpPr txBox="1"/>
          <p:nvPr/>
        </p:nvSpPr>
        <p:spPr>
          <a:xfrm>
            <a:off x="6426200" y="155626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 장에서 본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4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 권리를 가진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완전한 값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일급 시민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차별 없는 시민권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비유다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4C07229-CC31-0F0C-294A-2D0DDD955DD7}"/>
              </a:ext>
            </a:extLst>
          </p:cNvPr>
          <p:cNvSpPr/>
          <p:nvPr/>
        </p:nvSpPr>
        <p:spPr>
          <a:xfrm>
            <a:off x="6248400" y="21087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769CB1-7CB8-E99C-0D2A-702F4E4C4FAA}"/>
              </a:ext>
            </a:extLst>
          </p:cNvPr>
          <p:cNvSpPr txBox="1"/>
          <p:nvPr/>
        </p:nvSpPr>
        <p:spPr>
          <a:xfrm>
            <a:off x="6426200" y="203257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일급 함수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함수도 그 권리를 전부 누리는 언어에서의 함수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함수의 종류가 아니라 언어의 대우에 대한 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752ECF0-1AA3-2717-F6CD-88AB649CA5C5}"/>
              </a:ext>
            </a:extLst>
          </p:cNvPr>
          <p:cNvSpPr/>
          <p:nvPr/>
        </p:nvSpPr>
        <p:spPr>
          <a:xfrm>
            <a:off x="6248400" y="258508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4D2C28-AE8D-0E80-7476-23C427F0CFCA}"/>
              </a:ext>
            </a:extLst>
          </p:cNvPr>
          <p:cNvSpPr txBox="1"/>
          <p:nvPr/>
        </p:nvSpPr>
        <p:spPr>
          <a:xfrm>
            <a:off x="6426200" y="250888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(second-class)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 실존 용어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함수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포인터 우회만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파이썬의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if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값이 아니라 못 담음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474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9E1A51-9A94-5EC3-22DE-ADC03DF11433}"/>
              </a:ext>
            </a:extLst>
          </p:cNvPr>
          <p:cNvSpPr/>
          <p:nvPr/>
        </p:nvSpPr>
        <p:spPr>
          <a:xfrm>
            <a:off x="711200" y="1858665"/>
            <a:ext cx="5232400" cy="253753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7A0FC2-D90D-D667-5484-BD9C9B6ACEA1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1E096D-CF2A-3EBB-7734-9D22605ED2C1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클래스 도입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72686-9C28-B6ED-735B-67CCF47D88D4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class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란 무엇인가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?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F3F33-F81D-938A-384E-55A2A2DF0DA5}"/>
              </a:ext>
            </a:extLst>
          </p:cNvPr>
          <p:cNvSpPr txBox="1"/>
          <p:nvPr/>
        </p:nvSpPr>
        <p:spPr>
          <a:xfrm>
            <a:off x="711200" y="1270000"/>
            <a:ext cx="5232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현실의 무언가를 코드로 추상화하는 그릇이다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예를 들어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대학원생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을 클래스로 추상화해 보자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8F813-96AF-FE6E-7F7D-80227B993F7E}"/>
              </a:ext>
            </a:extLst>
          </p:cNvPr>
          <p:cNvSpPr txBox="1"/>
          <p:nvPr/>
        </p:nvSpPr>
        <p:spPr>
          <a:xfrm>
            <a:off x="838200" y="2214265"/>
            <a:ext cx="1461939" cy="200413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GradStudent {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void daily() {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eat();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sleep();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research();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repeat();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AA304-61DA-4A56-1FBA-2EABD6DF34DE}"/>
              </a:ext>
            </a:extLst>
          </p:cNvPr>
          <p:cNvSpPr txBox="1"/>
          <p:nvPr/>
        </p:nvSpPr>
        <p:spPr>
          <a:xfrm>
            <a:off x="838200" y="1909465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🎓 대학원생을 추상화해 보면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? — GradStudent.java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4230B-77C5-08E5-E818-851D459AEF50}"/>
              </a:ext>
            </a:extLst>
          </p:cNvPr>
          <p:cNvSpPr txBox="1"/>
          <p:nvPr/>
        </p:nvSpPr>
        <p:spPr>
          <a:xfrm>
            <a:off x="6248400" y="12700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클래스는 데이터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상태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와 동작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함수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을 하나로 묶는다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대학원생이라면 이런 상태를 갖고 이런 일을 한다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는 설계도다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6B84577-2176-F5A4-E78E-A2B1036673A9}"/>
              </a:ext>
            </a:extLst>
          </p:cNvPr>
          <p:cNvSpPr/>
          <p:nvPr/>
        </p:nvSpPr>
        <p:spPr>
          <a:xfrm>
            <a:off x="6248400" y="181713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912A0-A328-6531-47B8-52BBC444D20E}"/>
              </a:ext>
            </a:extLst>
          </p:cNvPr>
          <p:cNvSpPr txBox="1"/>
          <p:nvPr/>
        </p:nvSpPr>
        <p:spPr>
          <a:xfrm>
            <a:off x="6426200" y="1740932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추상화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복잡한 현실에서 필요한 것만 남긴다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09944F1-6326-532F-A190-D503150FCC83}"/>
              </a:ext>
            </a:extLst>
          </p:cNvPr>
          <p:cNvSpPr/>
          <p:nvPr/>
        </p:nvSpPr>
        <p:spPr>
          <a:xfrm>
            <a:off x="6248400" y="209338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67B6A-AA92-2B9B-303E-E3EF6330F835}"/>
              </a:ext>
            </a:extLst>
          </p:cNvPr>
          <p:cNvSpPr txBox="1"/>
          <p:nvPr/>
        </p:nvSpPr>
        <p:spPr>
          <a:xfrm>
            <a:off x="6426200" y="2017187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재사용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설계도 하나로 여러 인스턴스를 찍는다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D67874-F36B-90A4-54D5-ACFEE266A0E8}"/>
              </a:ext>
            </a:extLst>
          </p:cNvPr>
          <p:cNvSpPr/>
          <p:nvPr/>
        </p:nvSpPr>
        <p:spPr>
          <a:xfrm>
            <a:off x="6248400" y="236964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F87FF-4CC0-7A79-4728-0DDDE1FF76A9}"/>
              </a:ext>
            </a:extLst>
          </p:cNvPr>
          <p:cNvSpPr txBox="1"/>
          <p:nvPr/>
        </p:nvSpPr>
        <p:spPr>
          <a:xfrm>
            <a:off x="6426200" y="2293442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강의의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Hand, GameResult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 같은 아이디어</a:t>
            </a:r>
          </a:p>
        </p:txBody>
      </p:sp>
    </p:spTree>
    <p:extLst>
      <p:ext uri="{BB962C8B-B14F-4D97-AF65-F5344CB8AC3E}">
        <p14:creationId xmlns:p14="http://schemas.microsoft.com/office/powerpoint/2010/main" val="551059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AE5260-158A-4B6C-7176-B69E9B6A8B32}"/>
              </a:ext>
            </a:extLst>
          </p:cNvPr>
          <p:cNvSpPr/>
          <p:nvPr/>
        </p:nvSpPr>
        <p:spPr>
          <a:xfrm>
            <a:off x="6248400" y="1270000"/>
            <a:ext cx="5232400" cy="2226171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A17BC73-171C-A923-4349-592CE918D6E6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6FF23F-82F5-D89F-9A1A-216DD8A045BD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D524E-E42B-65C1-BE76-C110A09A9B70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클래스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EC38A-64FF-E740-AA47-3F089B7B2B01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__init__ 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멤버 변수는 어디서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태어나나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622D8-AE0C-C886-F789-840E92E3D308}"/>
              </a:ext>
            </a:extLst>
          </p:cNvPr>
          <p:cNvSpPr txBox="1"/>
          <p:nvPr/>
        </p:nvSpPr>
        <p:spPr>
          <a:xfrm>
            <a:off x="838200" y="1625600"/>
            <a:ext cx="4142160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Student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int    age;   // ①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선언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객체마다 이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칸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double gpa;   // 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실제 메모리에 잡힌다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Student(int a, double g)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: age(a), gpa(g) {}   // ②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생성자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칸 채우기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Student s1(20, 3.8);  // s1: [age=20][gpa=3.8]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Student s2(24, 4.1);  // s2: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별도 메모리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독립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sizeof(Student) 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칸들의 합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(+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정렬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배치가 눈에 보임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392C0-E31D-2F50-9EF6-2DDAAF1BB34F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student.cpp — C++: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멤버 선언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객체의 메모리 배치도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FE491-4EA4-4E9A-E41B-1EAFBAA34F8B}"/>
              </a:ext>
            </a:extLst>
          </p:cNvPr>
          <p:cNvSpPr txBox="1"/>
          <p:nvPr/>
        </p:nvSpPr>
        <p:spPr>
          <a:xfrm>
            <a:off x="6375400" y="1625600"/>
            <a:ext cx="3449662" cy="1692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Student: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선언부가 없다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__init__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의 대입이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①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선언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+ ②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초기화를 동시에 한다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__init__(self, age, gpa):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self.age = age   #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 순간 칸이 생김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self.gpa = gpa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s1 = Student(20, 3.8)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s1.__dict__   # {'age': 20, 'gpa': 3.8}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인스턴스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이름→값 딕셔너리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 s2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각자의 것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385D6-1965-FEE3-BD49-23230DCD5DA0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student.py — Python: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대입의 순간이 곧 탄생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1EFD2B5-710F-D933-EDFB-46B2ED059368}"/>
              </a:ext>
            </a:extLst>
          </p:cNvPr>
          <p:cNvSpPr/>
          <p:nvPr/>
        </p:nvSpPr>
        <p:spPr>
          <a:xfrm>
            <a:off x="6248400" y="369937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C3E57-CBEA-FFD3-7547-193C2715F768}"/>
              </a:ext>
            </a:extLst>
          </p:cNvPr>
          <p:cNvSpPr txBox="1"/>
          <p:nvPr/>
        </p:nvSpPr>
        <p:spPr>
          <a:xfrm>
            <a:off x="6426200" y="362317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C++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컴파일 때 고정 배치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Python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실행 중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__dict__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 추가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선언 없이 대입만으로 되는 이유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0215096-A8D0-FEC7-DC8E-FBCCF9DB01E7}"/>
              </a:ext>
            </a:extLst>
          </p:cNvPr>
          <p:cNvSpPr/>
          <p:nvPr/>
        </p:nvSpPr>
        <p:spPr>
          <a:xfrm>
            <a:off x="6248400" y="417568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823C0-F35A-86DA-5BB3-67621A42445A}"/>
              </a:ext>
            </a:extLst>
          </p:cNvPr>
          <p:cNvSpPr txBox="1"/>
          <p:nvPr/>
        </p:nvSpPr>
        <p:spPr>
          <a:xfrm>
            <a:off x="6426200" y="409948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__init__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멤버 선언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생성자를 한 곳에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self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 인스턴스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명시된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this).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repo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self._rng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 같은 원리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2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B37EA6-1A95-4320-34C0-7DCEEF0E2C35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5EDDC-3AD2-6904-DC25-CA78FC03EB26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클래스 심화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C13F0-85B3-C6A2-ABD6-FEE727284C72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던더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문법을 메서드로 번역하는 규약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42F63-AB2F-5E1D-0FC8-D16BDC1EB894}"/>
              </a:ext>
            </a:extLst>
          </p:cNvPr>
          <p:cNvSpPr txBox="1"/>
          <p:nvPr/>
        </p:nvSpPr>
        <p:spPr>
          <a:xfrm>
            <a:off x="711200" y="1270000"/>
            <a:ext cx="5232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던더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(dunder) = Double UNDERscore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의 준말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매직 메서드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").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밑줄 두 개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= 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내가 아니라 파이썬 문법이 부르는 자리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라는 격리 표시다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DFD4C9E-8D9E-81C8-9BCA-87FCDE1B9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95629"/>
              </p:ext>
            </p:extLst>
          </p:nvPr>
        </p:nvGraphicFramePr>
        <p:xfrm>
          <a:off x="711200" y="2089497"/>
          <a:ext cx="52324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2930038427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54381479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문법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실제로 불리는 던더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659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 == b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a.__eq__(b)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932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 - b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a.__sub__(b) ← Hand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뺄셈의 정체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654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len(x) · x[i]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__len__ · __getitem__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56795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for v in x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x.__iter__()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1389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print(x)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x.__str__()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7627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with x: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__enter__ / __exit__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6765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3BDFD51-5D97-7DE8-A71D-2018CDCEE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96900"/>
              </p:ext>
            </p:extLst>
          </p:nvPr>
        </p:nvGraphicFramePr>
        <p:xfrm>
          <a:off x="6248400" y="1270000"/>
          <a:ext cx="52324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08266338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8985983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16406045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073677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같은 문제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세 언어의 해법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Python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C++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Java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98518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이름 규약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문법이 자동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operator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연산자 오버로딩 없음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직접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9550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==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__eq__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operator==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불가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equals()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손수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70952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__str__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operator&lt;&lt;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toString()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83046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정리 보장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__exit__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소멸자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~T() — RAII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close() — AutoCloseable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802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9C641D-0B04-BEF0-15A3-8B001E6C7496}"/>
              </a:ext>
            </a:extLst>
          </p:cNvPr>
          <p:cNvSpPr txBox="1"/>
          <p:nvPr/>
        </p:nvSpPr>
        <p:spPr>
          <a:xfrm>
            <a:off x="6248400" y="3362960"/>
            <a:ext cx="52324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주의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오버로딩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은 두 갈래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: Java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도 메서드 오버로딩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(println(int)/println(String))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은 일상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없는 건 연산자 쪽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반대로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Python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은 연산자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던더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는 되지만 메서드 오버로딩이 없어 기본 인자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유니온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(Hand | str)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으로 대신한다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우리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play()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가 그 사례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96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D634CD-9A6C-48B9-9143-53DC69779356}"/>
              </a:ext>
            </a:extLst>
          </p:cNvPr>
          <p:cNvSpPr/>
          <p:nvPr/>
        </p:nvSpPr>
        <p:spPr>
          <a:xfrm>
            <a:off x="6248400" y="2917722"/>
            <a:ext cx="5232400" cy="1266806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7B23B6D-30B8-2CB0-01DC-96D0C215A718}"/>
              </a:ext>
            </a:extLst>
          </p:cNvPr>
          <p:cNvSpPr/>
          <p:nvPr/>
        </p:nvSpPr>
        <p:spPr>
          <a:xfrm>
            <a:off x="6248400" y="1270000"/>
            <a:ext cx="5232400" cy="1520722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A92444-77F1-4994-AD2E-43C058DBEE00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79067-88EB-51A5-EFA9-5D5E25D9239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클래스 심화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1781B-C050-41E8-9096-2A7B580EF6C4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자주 쓰는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__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던더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__ 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파이썬이 약속한 이름들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AB525-C05B-84BD-BF80-CE6B665CBA15}"/>
              </a:ext>
            </a:extLst>
          </p:cNvPr>
          <p:cNvSpPr txBox="1"/>
          <p:nvPr/>
        </p:nvSpPr>
        <p:spPr>
          <a:xfrm>
            <a:off x="711200" y="1270000"/>
            <a:ext cx="5232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내가 직접 부르는 게 아니라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정해진 상황에서 파이썬이 대신 불러 준다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56985AE-F92A-9ACB-F294-1C449A408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453967"/>
              </p:ext>
            </p:extLst>
          </p:nvPr>
        </p:nvGraphicFramePr>
        <p:xfrm>
          <a:off x="711200" y="1858665"/>
          <a:ext cx="52324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3415823323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5678886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던더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언제 불리나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·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이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repo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에서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3293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__init__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인스턴스 생성 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RockPaperScissors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40792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__repr__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디버깅 출력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·REPL — dataclass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가 자동 생성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545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__eq__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 == b — dataclass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자동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테스트에서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53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__str__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print(obj) 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없으면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__repr__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로 대체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1178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__len__ · __iter__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len(obj) · for x in obj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895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__getitem__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obj[i] 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판정식의 튜플 인덱싱이 이것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09864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__call__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obj() 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인스턴스를 함수처럼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504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3AE3FB-7493-41A7-4B5B-02606701D9AD}"/>
              </a:ext>
            </a:extLst>
          </p:cNvPr>
          <p:cNvSpPr txBox="1"/>
          <p:nvPr/>
        </p:nvSpPr>
        <p:spPr>
          <a:xfrm>
            <a:off x="6375400" y="1625600"/>
            <a:ext cx="3667671" cy="9873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with open("scores.txt") as f: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진입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__enter__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data = f.read()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퇴장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__exit__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블록에서 예외가 터져도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   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파일은 반드시 닫힌다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예외 처리 장과 연결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12845-9914-A18F-BA4D-20483E7E1D77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__enter__ / __exit__ — with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의 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4353B-4AEC-F130-CD7A-E3DA298918E4}"/>
              </a:ext>
            </a:extLst>
          </p:cNvPr>
          <p:cNvSpPr txBox="1"/>
          <p:nvPr/>
        </p:nvSpPr>
        <p:spPr>
          <a:xfrm>
            <a:off x="6375400" y="3273322"/>
            <a:ext cx="3757439" cy="73340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 -m rps            # → rps/__main__.py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if __name__ == "__main__":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직접 실행일 때만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main()                   # 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임포트 시엔 안 돔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8D1F64-54F3-9BED-9663-35F711B67E86}"/>
              </a:ext>
            </a:extLst>
          </p:cNvPr>
          <p:cNvSpPr txBox="1"/>
          <p:nvPr/>
        </p:nvSpPr>
        <p:spPr>
          <a:xfrm>
            <a:off x="6375400" y="2968522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__main__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메서드가 아니라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예약된 모듈 이름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"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849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160E7A8-230D-3572-109F-609DBF2DDC73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2959A9-A24B-C69A-3A18-D2C154B5715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8CEC4-72A1-0592-99E7-7F6A0731889E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클래스 심화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EEAF4-2FF6-16A3-2C8E-CEB7B6FADBA7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상속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사실 이미 쓰고 있었다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DB9E1-9B02-E834-8E3A-B5F78F0FEED3}"/>
              </a:ext>
            </a:extLst>
          </p:cNvPr>
          <p:cNvSpPr txBox="1"/>
          <p:nvPr/>
        </p:nvSpPr>
        <p:spPr>
          <a:xfrm>
            <a:off x="838200" y="1625600"/>
            <a:ext cx="3693319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Student: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def __init__(self, name): self.name = name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def daily(self): eat(); sleep()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GradStudent(Student):   # ①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물려받고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__init__(self, name, lab):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super().__init__(name)  # ②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부모 것 먼저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self.lab = lab          # ③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내 것 추가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daily(self):            # ④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오버라이드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super().daily()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research(); repeat()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41F0A-261B-C4BA-0101-EA157C0EA615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grad.py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슬라이드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의 대학원생으로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9B74258-0747-5EAF-FA2F-4B8948E89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21199"/>
              </p:ext>
            </p:extLst>
          </p:nvPr>
        </p:nvGraphicFramePr>
        <p:xfrm>
          <a:off x="6248400" y="1270000"/>
          <a:ext cx="52324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3416133774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64563964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이미 쓴 코드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정체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00944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Hand(IntEnum)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IntEnum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상속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산술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역조회가 공짜인 이유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41353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Outcome(Enum)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Enum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상속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86164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PlayResponse(BaseModel)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Pydantic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상속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런타임 검증이 공짜인 이유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575456"/>
                  </a:ext>
                </a:extLst>
              </a:tr>
            </a:tbl>
          </a:graphicData>
        </a:graphic>
      </p:graphicFrame>
      <p:sp>
        <p:nvSpPr>
          <p:cNvPr id="9" name="타원 8">
            <a:extLst>
              <a:ext uri="{FF2B5EF4-FFF2-40B4-BE49-F238E27FC236}">
                <a16:creationId xmlns:a16="http://schemas.microsoft.com/office/drawing/2014/main" id="{200E9D1B-9C8B-C675-8032-1FC9CABA45BA}"/>
              </a:ext>
            </a:extLst>
          </p:cNvPr>
          <p:cNvSpPr/>
          <p:nvPr/>
        </p:nvSpPr>
        <p:spPr>
          <a:xfrm>
            <a:off x="6248400" y="288036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C61-EC9F-9A9A-84C9-991FBA3CB296}"/>
              </a:ext>
            </a:extLst>
          </p:cNvPr>
          <p:cNvSpPr txBox="1"/>
          <p:nvPr/>
        </p:nvSpPr>
        <p:spPr>
          <a:xfrm>
            <a:off x="6426200" y="280416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super()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부모 클래스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부모의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__init__/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메서드를 이어서 부를 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6845596-E1E3-A411-B99D-F8BAD9463BBC}"/>
              </a:ext>
            </a:extLst>
          </p:cNvPr>
          <p:cNvSpPr/>
          <p:nvPr/>
        </p:nvSpPr>
        <p:spPr>
          <a:xfrm>
            <a:off x="6248400" y="315661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2944C-9589-CB05-FFDA-571F89A18E94}"/>
              </a:ext>
            </a:extLst>
          </p:cNvPr>
          <p:cNvSpPr txBox="1"/>
          <p:nvPr/>
        </p:nvSpPr>
        <p:spPr>
          <a:xfrm>
            <a:off x="6426200" y="308041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오버라이드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이름을 내 방식으로 재정의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A02C61F-C94B-6D06-150D-BFE2D4EBCB5A}"/>
              </a:ext>
            </a:extLst>
          </p:cNvPr>
          <p:cNvSpPr/>
          <p:nvPr/>
        </p:nvSpPr>
        <p:spPr>
          <a:xfrm>
            <a:off x="6248400" y="343287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87DDB7-0AA1-EA5F-7F02-B61234B330AA}"/>
              </a:ext>
            </a:extLst>
          </p:cNvPr>
          <p:cNvSpPr txBox="1"/>
          <p:nvPr/>
        </p:nvSpPr>
        <p:spPr>
          <a:xfrm>
            <a:off x="6426200" y="335667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파이썬 상속의 주 용도는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능력 물려받기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— C++/Java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식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교체 지점용 상속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"(RandomSource)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일급 함수로 대체되어 덜 필요하다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836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5052DFF-0DCC-A22A-8CF4-E841F952CCC0}"/>
              </a:ext>
            </a:extLst>
          </p:cNvPr>
          <p:cNvSpPr/>
          <p:nvPr/>
        </p:nvSpPr>
        <p:spPr>
          <a:xfrm>
            <a:off x="6248400" y="2425820"/>
            <a:ext cx="5232400" cy="1266806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E056EC-CC99-EF94-E836-BF1BB449764E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A27A7-E28B-6BB0-2364-474D2286D529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정적 타입의 대안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69F3A-6C95-CD8E-8B37-811941DF3511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dataclass vs Pydantic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989BD-EB3E-7975-EB89-5BCAFB83828C}"/>
              </a:ext>
            </a:extLst>
          </p:cNvPr>
          <p:cNvSpPr txBox="1"/>
          <p:nvPr/>
        </p:nvSpPr>
        <p:spPr>
          <a:xfrm>
            <a:off x="711200" y="1270000"/>
            <a:ext cx="5232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타입 힌트는 런타임엔 무시된다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외부 입력을 실행 중에 검증하려면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Pydantic.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7BF9C42-74A9-4AD7-00C7-6E0FF9C9411C}"/>
              </a:ext>
            </a:extLst>
          </p:cNvPr>
          <p:cNvSpPr/>
          <p:nvPr/>
        </p:nvSpPr>
        <p:spPr>
          <a:xfrm>
            <a:off x="711200" y="19348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2859A-3B53-0349-10D6-120DD10B2348}"/>
              </a:ext>
            </a:extLst>
          </p:cNvPr>
          <p:cNvSpPr txBox="1"/>
          <p:nvPr/>
        </p:nvSpPr>
        <p:spPr>
          <a:xfrm>
            <a:off x="889000" y="18586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@dataclass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믿는 내부 데이터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A15DA70-F948-C6D4-AB3A-DC1D6F981BE3}"/>
              </a:ext>
            </a:extLst>
          </p:cNvPr>
          <p:cNvSpPr/>
          <p:nvPr/>
        </p:nvSpPr>
        <p:spPr>
          <a:xfrm>
            <a:off x="711200" y="22111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529F1-F9B7-D04D-8012-3F6B7C10F8FC}"/>
              </a:ext>
            </a:extLst>
          </p:cNvPr>
          <p:cNvSpPr txBox="1"/>
          <p:nvPr/>
        </p:nvSpPr>
        <p:spPr>
          <a:xfrm>
            <a:off x="889000" y="21349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표준 라이브러리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의존성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0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8913620-3689-1E19-66F9-8C89232ECC4E}"/>
              </a:ext>
            </a:extLst>
          </p:cNvPr>
          <p:cNvSpPr/>
          <p:nvPr/>
        </p:nvSpPr>
        <p:spPr>
          <a:xfrm>
            <a:off x="711200" y="248737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FC90E-AEEA-B545-9365-422F19D50579}"/>
              </a:ext>
            </a:extLst>
          </p:cNvPr>
          <p:cNvSpPr txBox="1"/>
          <p:nvPr/>
        </p:nvSpPr>
        <p:spPr>
          <a:xfrm>
            <a:off x="889000" y="241117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런타임 검증 없음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375A9D4-2B91-0825-115B-95D4022694A1}"/>
              </a:ext>
            </a:extLst>
          </p:cNvPr>
          <p:cNvSpPr/>
          <p:nvPr/>
        </p:nvSpPr>
        <p:spPr>
          <a:xfrm>
            <a:off x="711200" y="276363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D2000-5D0B-6E5D-42FF-42C7B8EAFA45}"/>
              </a:ext>
            </a:extLst>
          </p:cNvPr>
          <p:cNvSpPr txBox="1"/>
          <p:nvPr/>
        </p:nvSpPr>
        <p:spPr>
          <a:xfrm>
            <a:off x="889000" y="268743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repo: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도메인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GameResult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ED22D2-C411-085C-B4D3-0E6561D622CD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48CAB-2705-5A1F-2D96-831A0F0FC1D4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Pydantic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외부 경계의 문지기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034491B-7F9D-972A-DE4B-417B9A4EE1C3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D0FD4-36E1-C9EE-B513-88604E359D20}"/>
              </a:ext>
            </a:extLst>
          </p:cNvPr>
          <p:cNvSpPr txBox="1"/>
          <p:nvPr/>
        </p:nvSpPr>
        <p:spPr>
          <a:xfrm>
            <a:off x="6426200" y="154625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런타임 타입 검증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자동 변환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 JSON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730D64C-0F07-26AF-8BCC-92CB4B8AE22A}"/>
              </a:ext>
            </a:extLst>
          </p:cNvPr>
          <p:cNvSpPr/>
          <p:nvPr/>
        </p:nvSpPr>
        <p:spPr>
          <a:xfrm>
            <a:off x="6248400" y="18987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F1B5D2-2BDD-2B34-F3BB-F08F232C4860}"/>
              </a:ext>
            </a:extLst>
          </p:cNvPr>
          <p:cNvSpPr txBox="1"/>
          <p:nvPr/>
        </p:nvSpPr>
        <p:spPr>
          <a:xfrm>
            <a:off x="6426200" y="18225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안 맞으면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ValidationError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840C694-03C0-59A1-90C9-2A09E8572F6D}"/>
              </a:ext>
            </a:extLst>
          </p:cNvPr>
          <p:cNvSpPr/>
          <p:nvPr/>
        </p:nvSpPr>
        <p:spPr>
          <a:xfrm>
            <a:off x="6248400" y="21749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C65C5B-ECCF-4ACF-C0DB-C5865B8AC8B0}"/>
              </a:ext>
            </a:extLst>
          </p:cNvPr>
          <p:cNvSpPr txBox="1"/>
          <p:nvPr/>
        </p:nvSpPr>
        <p:spPr>
          <a:xfrm>
            <a:off x="6426200" y="20987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repo: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웹 응답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PlayResponse (FastAPI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07E58-6952-B57B-E847-0E2875C4E93B}"/>
              </a:ext>
            </a:extLst>
          </p:cNvPr>
          <p:cNvSpPr txBox="1"/>
          <p:nvPr/>
        </p:nvSpPr>
        <p:spPr>
          <a:xfrm>
            <a:off x="6375400" y="2781420"/>
            <a:ext cx="4975721" cy="73340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PlayResponse(BaseModel):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외부로 나가는 응답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 Pydantic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player: str; computer: str; outcome: str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순수 도메인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GameResult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@dataclass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그대로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경계에서만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Pydantic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3F8BA9-1FD8-2CC2-7F39-31534BF168D8}"/>
              </a:ext>
            </a:extLst>
          </p:cNvPr>
          <p:cNvSpPr txBox="1"/>
          <p:nvPr/>
        </p:nvSpPr>
        <p:spPr>
          <a:xfrm>
            <a:off x="6375400" y="247662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rps/web.py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566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A59153-3079-5C43-0F94-E5B4F1D541D2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4BE93-A871-EAAF-C289-E3CE7DD1A37D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@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의 정체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6DF00-5B9C-7209-8C0E-3AC2BFD63F0D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파이썬 데코레이터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vs Java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어노테이션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7ABDB-E318-3AE8-D5CA-A99CE57CD11E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생김새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(@)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만 같고 동작이 근본적으로 다르다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41CFD77-B0B8-2ACB-C344-8501DFE00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62161"/>
              </p:ext>
            </p:extLst>
          </p:nvPr>
        </p:nvGraphicFramePr>
        <p:xfrm>
          <a:off x="711200" y="1627832"/>
          <a:ext cx="107696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132085211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2644913713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33408230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Python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데코레이터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@foo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Java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어노테이션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@Foo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82527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실행되는 함수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(bar = foo(bar))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수동적 메타데이터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라벨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837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작동 시점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import(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시 즉시 실행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프레임워크가 리플렉션으로 스캔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1637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@app.get(...) →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그 자리서 라우트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@GetMapping →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스프링이 스캔해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80864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553C67A7-0B47-9CD5-2824-BA59FD712116}"/>
              </a:ext>
            </a:extLst>
          </p:cNvPr>
          <p:cNvSpPr/>
          <p:nvPr/>
        </p:nvSpPr>
        <p:spPr>
          <a:xfrm>
            <a:off x="711200" y="297403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DC4B-2C08-FBCD-B4B5-A939CD28D394}"/>
              </a:ext>
            </a:extLst>
          </p:cNvPr>
          <p:cNvSpPr txBox="1"/>
          <p:nvPr/>
        </p:nvSpPr>
        <p:spPr>
          <a:xfrm>
            <a:off x="889000" y="289783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파이썬에서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어노테이션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이라 부르는 건 사실 타입 힌트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(x: int)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도구가 읽는 수동 메타데이터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49CF511-A5AC-BC99-1924-1B2AC67E1D08}"/>
              </a:ext>
            </a:extLst>
          </p:cNvPr>
          <p:cNvSpPr/>
          <p:nvPr/>
        </p:nvSpPr>
        <p:spPr>
          <a:xfrm>
            <a:off x="711200" y="325028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92C4D-2029-3563-778E-5E8812200E0F}"/>
              </a:ext>
            </a:extLst>
          </p:cNvPr>
          <p:cNvSpPr txBox="1"/>
          <p:nvPr/>
        </p:nvSpPr>
        <p:spPr>
          <a:xfrm>
            <a:off x="889000" y="3174087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즉 파이썬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@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능동적 코드 실행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Java @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선언적 메타데이터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721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B2321B7-20BD-D012-E9AF-187BBBB4D9CB}"/>
              </a:ext>
            </a:extLst>
          </p:cNvPr>
          <p:cNvSpPr/>
          <p:nvPr/>
        </p:nvSpPr>
        <p:spPr>
          <a:xfrm>
            <a:off x="711200" y="2089497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8D857D-B179-43DB-F6CD-3C92878131E0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7DE40-CABD-50B9-4786-2631383BD9C4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예외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3B0BB-1F81-F720-2B74-28CF10FF5357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우리도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라벨을 붙이는 계층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E285D-BA25-C002-7E6F-DDA7A1C675E5}"/>
              </a:ext>
            </a:extLst>
          </p:cNvPr>
          <p:cNvSpPr txBox="1"/>
          <p:nvPr/>
        </p:nvSpPr>
        <p:spPr>
          <a:xfrm>
            <a:off x="711200" y="1270000"/>
            <a:ext cx="5232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try/except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를 쓰는 순간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뒤 디버깅 장에서 다룰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라벨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이야기가 내 코드의 일이 된다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내가 붙인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또는 삼킨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라벨이 다음 디버거가 볼 전부다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A922B-F629-BCAC-96E1-FB36D7C87629}"/>
              </a:ext>
            </a:extLst>
          </p:cNvPr>
          <p:cNvSpPr txBox="1"/>
          <p:nvPr/>
        </p:nvSpPr>
        <p:spPr>
          <a:xfrm>
            <a:off x="838200" y="2445097"/>
            <a:ext cx="3616375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예상한 상황만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좁게 잡는다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try: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result = game.play(user_input)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except ValueError as exc: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잘못된 손 입력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print(f"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오류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{exc}", file=sys.stderr)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return 1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라벨을 바꿀 땐 인과 사슬을 보존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except ValueError as exc: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raise HTTPException(400, str(exc)) from exc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# from exc = 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400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의 원인은 저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ValueError"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444D-AB75-E82D-DC6A-B39921351E4D}"/>
              </a:ext>
            </a:extLst>
          </p:cNvPr>
          <p:cNvSpPr txBox="1"/>
          <p:nvPr/>
        </p:nvSpPr>
        <p:spPr>
          <a:xfrm>
            <a:off x="838200" y="2140297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cli.py · web.py 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이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repo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의 실제 코드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1B2C1-8B46-E856-AA83-A33AD64ADE3A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명확한 자기 분석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4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단계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073D084-CC8B-08BA-9B0A-99B18C367307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7B689-1D3B-6451-BBF0-CCE4C50EA17A}"/>
              </a:ext>
            </a:extLst>
          </p:cNvPr>
          <p:cNvSpPr txBox="1"/>
          <p:nvPr/>
        </p:nvSpPr>
        <p:spPr>
          <a:xfrm>
            <a:off x="64262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① 나는 지금 뭘 하고 있는가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블록이 시도하는 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7ECCCB1-B8A9-1416-2DCC-DD9C853404B3}"/>
              </a:ext>
            </a:extLst>
          </p:cNvPr>
          <p:cNvSpPr/>
          <p:nvPr/>
        </p:nvSpPr>
        <p:spPr>
          <a:xfrm>
            <a:off x="62484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9A8EAE-9EB1-B3FD-94C8-96DAF78D6A94}"/>
              </a:ext>
            </a:extLst>
          </p:cNvPr>
          <p:cNvSpPr txBox="1"/>
          <p:nvPr/>
        </p:nvSpPr>
        <p:spPr>
          <a:xfrm>
            <a:off x="64262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② 어떤 상황이 발생할 수 있는가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예상 가능한 실패 목록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FB6D94D-F82D-1B80-F873-8BF420238C54}"/>
              </a:ext>
            </a:extLst>
          </p:cNvPr>
          <p:cNvSpPr/>
          <p:nvPr/>
        </p:nvSpPr>
        <p:spPr>
          <a:xfrm>
            <a:off x="62484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9C900D-E2E6-9FA8-8B4C-A2D469A4D626}"/>
              </a:ext>
            </a:extLst>
          </p:cNvPr>
          <p:cNvSpPr txBox="1"/>
          <p:nvPr/>
        </p:nvSpPr>
        <p:spPr>
          <a:xfrm>
            <a:off x="6426200" y="210877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③ 각각에 내가 뭘 할 수 있는가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복구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기본값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재시도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못 하면 잡지 말고 전파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13A594C-7CF8-78E6-2DC5-2758C07F9AA5}"/>
              </a:ext>
            </a:extLst>
          </p:cNvPr>
          <p:cNvSpPr/>
          <p:nvPr/>
        </p:nvSpPr>
        <p:spPr>
          <a:xfrm>
            <a:off x="6248400" y="266128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5891E-C8B3-58A3-5C24-5873F0A3D59E}"/>
              </a:ext>
            </a:extLst>
          </p:cNvPr>
          <p:cNvSpPr txBox="1"/>
          <p:nvPr/>
        </p:nvSpPr>
        <p:spPr>
          <a:xfrm>
            <a:off x="6426200" y="258508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④ 조용히 삼키지 않는다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맨몸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except: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다음 사람에게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'oom'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오리무중 라벨을 남기는 것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74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DC553D-5F9D-EBD3-9DB6-FA2FE813D937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BE396-39BD-3EFA-A28A-57D17B90B949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언어 비교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3B251-8544-2A26-2ADE-B98E617EAB0A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같은 게임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다른 무게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0373B-1C45-CF5D-5A24-5483AEDB475B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판정 로직은 세 언어가 사실상 동일하다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차이는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그 로직을 감싸는 언어의 껍질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에서 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8E62B0-050F-7D6F-D2D0-B36184044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464522"/>
              </p:ext>
            </p:extLst>
          </p:nvPr>
        </p:nvGraphicFramePr>
        <p:xfrm>
          <a:off x="711200" y="1627832"/>
          <a:ext cx="107696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012875715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153877350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64920605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언어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한 줄 요약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특징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02218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Java · Spring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구조를 직접 세운다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계층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어노테이션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빌드 설정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대규모 협업에 강하지만 무겁다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79158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C++20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기계에 가깝다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헤더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구현 분리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소유권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(unique_ptr)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관리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빠르지만 손이 많이 간다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4758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구조를 언어가 준다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IntEnum·dataclass·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일급 함수가 스캐폴딩을 대신한다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2788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A788EC-4370-63CD-A9A5-F2BD4CEFA03B}"/>
              </a:ext>
            </a:extLst>
          </p:cNvPr>
          <p:cNvSpPr txBox="1"/>
          <p:nvPr/>
        </p:nvSpPr>
        <p:spPr>
          <a:xfrm>
            <a:off x="711200" y="3161992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판정 공식은 셋 다 똑같다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: diff = (player − computer + 3) % 3 → 0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무승부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 1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승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 2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패</a:t>
            </a:r>
          </a:p>
        </p:txBody>
      </p:sp>
    </p:spTree>
    <p:extLst>
      <p:ext uri="{BB962C8B-B14F-4D97-AF65-F5344CB8AC3E}">
        <p14:creationId xmlns:p14="http://schemas.microsoft.com/office/powerpoint/2010/main" val="2929523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B25368F-EA8C-F06A-0A6B-106EA4E4FE9E}"/>
              </a:ext>
            </a:extLst>
          </p:cNvPr>
          <p:cNvSpPr/>
          <p:nvPr/>
        </p:nvSpPr>
        <p:spPr>
          <a:xfrm>
            <a:off x="6248400" y="1270000"/>
            <a:ext cx="5232400" cy="1520722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F04CF2A-3D67-7EA9-D088-0072BDC38DE4}"/>
              </a:ext>
            </a:extLst>
          </p:cNvPr>
          <p:cNvSpPr/>
          <p:nvPr/>
        </p:nvSpPr>
        <p:spPr>
          <a:xfrm>
            <a:off x="711200" y="1270000"/>
            <a:ext cx="5232400" cy="1775791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3ACCB6-223F-CECC-8010-A25B09D6CC4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3C890-2B16-053E-784E-30BDA494428A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비교의 원칙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08B22-D2AD-01D5-B01D-4D432AB9D4C0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한 줄만 보면 착시가 생긴다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E8B34-E372-E3F6-FEFB-9DE00C921EF7}"/>
              </a:ext>
            </a:extLst>
          </p:cNvPr>
          <p:cNvSpPr txBox="1"/>
          <p:nvPr/>
        </p:nvSpPr>
        <p:spPr>
          <a:xfrm>
            <a:off x="838200" y="1625600"/>
            <a:ext cx="4078039" cy="124239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Java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int diff = (player.code() - computer.code() + 3) % 3;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Python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diff = (player - computer + 3) % 3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85EE5-5E83-C986-2E03-5F237F963274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판정식 한 줄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거의 같아 보인다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6C38A-077C-760E-08B8-8321E1185D75}"/>
              </a:ext>
            </a:extLst>
          </p:cNvPr>
          <p:cNvSpPr txBox="1"/>
          <p:nvPr/>
        </p:nvSpPr>
        <p:spPr>
          <a:xfrm>
            <a:off x="6375400" y="1625600"/>
            <a:ext cx="3936975" cy="9873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private final int code;              // ①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정수 필드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Hand(int code){ this.code = code; }  // ②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생성자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int code(){ return code; }    // ③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접근자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static Hand fromCode(int c)   // ④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역조회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…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6EE02F-1910-0B52-FC1E-EB18C8A6B192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그 한 줄이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되려면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" — Hand.java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에 추가될 코드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7BD3C-199A-01E4-8974-05136A91B267}"/>
              </a:ext>
            </a:extLst>
          </p:cNvPr>
          <p:cNvSpPr txBox="1"/>
          <p:nvPr/>
        </p:nvSpPr>
        <p:spPr>
          <a:xfrm>
            <a:off x="6248400" y="2917722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player.code()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한 조각 뒤에 필드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생성자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접근자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역조회가 딸려온다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Python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은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IntEnum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이라 이 네 가지가 전부 불필요 → 다음 장에서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34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줄 전체를 본다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050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55B50AC-AFFA-0DEE-F71C-D3FF3483ABAD}"/>
              </a:ext>
            </a:extLst>
          </p:cNvPr>
          <p:cNvSpPr/>
          <p:nvPr/>
        </p:nvSpPr>
        <p:spPr>
          <a:xfrm>
            <a:off x="6248400" y="1270000"/>
            <a:ext cx="5232400" cy="1521876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CAD6D8-7EE7-A16D-44E5-E60030267273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77A52A-0348-CAE8-025F-7673434A5C40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6F0C7-4369-9CB0-A9FC-9ECB3DF351E2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전체 구현 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509D8-0090-4D0B-A970-DCFD66454B32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손 열거형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34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vs 5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ABB2A-1C83-116F-FFFD-EAE0DEBE62CA}"/>
              </a:ext>
            </a:extLst>
          </p:cNvPr>
          <p:cNvSpPr txBox="1"/>
          <p:nvPr/>
        </p:nvSpPr>
        <p:spPr>
          <a:xfrm>
            <a:off x="838200" y="1625600"/>
            <a:ext cx="3860031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enum Hand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ROCK(0), PAPER(1), SCISSORS(2);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private final int code;   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필드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Hand(int code) { this.code = code; 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public int code() { return code; 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public static Hand fromCode(int code)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for (Hand h : values())   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역조회 직접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if (h.code == code) return h;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throw new IllegalArgumentException(...);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7C29C-462E-724F-4836-105E555A369B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Hand.java — Java 34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전체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55062-961F-B41C-50FA-E517AF46D6AF}"/>
              </a:ext>
            </a:extLst>
          </p:cNvPr>
          <p:cNvSpPr txBox="1"/>
          <p:nvPr/>
        </p:nvSpPr>
        <p:spPr>
          <a:xfrm>
            <a:off x="6375400" y="1625600"/>
            <a:ext cx="1538883" cy="9884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Hand(IntEnum):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ROCK = 0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PAPER = 1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SCISSORS = 2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FF7EE-F634-B58C-550C-C052C9E1898E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game.py — Python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전부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(5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19434F6-794E-6137-E21A-EB0325E0EB38}"/>
              </a:ext>
            </a:extLst>
          </p:cNvPr>
          <p:cNvSpPr/>
          <p:nvPr/>
        </p:nvSpPr>
        <p:spPr>
          <a:xfrm>
            <a:off x="6248400" y="29950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7B2FF-D086-B955-CA39-F1DCB50EEA30}"/>
              </a:ext>
            </a:extLst>
          </p:cNvPr>
          <p:cNvSpPr txBox="1"/>
          <p:nvPr/>
        </p:nvSpPr>
        <p:spPr>
          <a:xfrm>
            <a:off x="6426200" y="29188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Hand(2)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역조회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공짜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4D58151-DC5F-D92E-CAF2-EC25BB2A4755}"/>
              </a:ext>
            </a:extLst>
          </p:cNvPr>
          <p:cNvSpPr/>
          <p:nvPr/>
        </p:nvSpPr>
        <p:spPr>
          <a:xfrm>
            <a:off x="6248400" y="32713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A22D67-003D-505D-D4DD-565B42DB9A96}"/>
              </a:ext>
            </a:extLst>
          </p:cNvPr>
          <p:cNvSpPr txBox="1"/>
          <p:nvPr/>
        </p:nvSpPr>
        <p:spPr>
          <a:xfrm>
            <a:off x="6426200" y="319513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Hand.ROCK.name → "ROCK"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공짜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608DBE7-7F46-FDD7-720D-18761AA90804}"/>
              </a:ext>
            </a:extLst>
          </p:cNvPr>
          <p:cNvSpPr/>
          <p:nvPr/>
        </p:nvSpPr>
        <p:spPr>
          <a:xfrm>
            <a:off x="6248400" y="354758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3C175-83DF-EDCE-1781-30460B279C08}"/>
              </a:ext>
            </a:extLst>
          </p:cNvPr>
          <p:cNvSpPr txBox="1"/>
          <p:nvPr/>
        </p:nvSpPr>
        <p:spPr>
          <a:xfrm>
            <a:off x="6426200" y="347138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Hand.ROCK - Hand.PAPER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산술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공짜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1E5272-510D-7E98-BE30-195044DED9CD}"/>
              </a:ext>
            </a:extLst>
          </p:cNvPr>
          <p:cNvSpPr/>
          <p:nvPr/>
        </p:nvSpPr>
        <p:spPr>
          <a:xfrm>
            <a:off x="6248400" y="382384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75BFEF-AF07-6540-DD44-B07BC6C41893}"/>
              </a:ext>
            </a:extLst>
          </p:cNvPr>
          <p:cNvSpPr txBox="1"/>
          <p:nvPr/>
        </p:nvSpPr>
        <p:spPr>
          <a:xfrm>
            <a:off x="6426200" y="374764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C++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to_code/from_code/to_string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직접 구현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41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줄</a:t>
            </a:r>
          </a:p>
        </p:txBody>
      </p:sp>
    </p:spTree>
    <p:extLst>
      <p:ext uri="{BB962C8B-B14F-4D97-AF65-F5344CB8AC3E}">
        <p14:creationId xmlns:p14="http://schemas.microsoft.com/office/powerpoint/2010/main" val="4286988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21C88FE-E081-3DE3-271D-14713CD934F7}"/>
              </a:ext>
            </a:extLst>
          </p:cNvPr>
          <p:cNvSpPr/>
          <p:nvPr/>
        </p:nvSpPr>
        <p:spPr>
          <a:xfrm>
            <a:off x="6248400" y="1270000"/>
            <a:ext cx="5232400" cy="205689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ECDFFC0-82EF-163D-7488-E559527C9255}"/>
              </a:ext>
            </a:extLst>
          </p:cNvPr>
          <p:cNvSpPr/>
          <p:nvPr/>
        </p:nvSpPr>
        <p:spPr>
          <a:xfrm>
            <a:off x="711200" y="1858665"/>
            <a:ext cx="5232400" cy="324183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4E2D3F-6CC8-9371-BDDA-8909773FBB44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AE65F-D48E-D331-6B04-8E2290F867F4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전체 구현 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D915E-90E8-B2D6-EBBE-89B50E21DAE7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테스트 가능한 난수 주입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을 만들려면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4BD84-6C40-A0F6-7908-1430CF4CD0D1}"/>
              </a:ext>
            </a:extLst>
          </p:cNvPr>
          <p:cNvSpPr txBox="1"/>
          <p:nvPr/>
        </p:nvSpPr>
        <p:spPr>
          <a:xfrm>
            <a:off x="711200" y="1270000"/>
            <a:ext cx="5232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인라인 한 줄만 보면 비슷하다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하지만 실제로 필요한 코드 전체는 이만큼 다르다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C963E-9443-A586-99E3-0681D37C087B}"/>
              </a:ext>
            </a:extLst>
          </p:cNvPr>
          <p:cNvSpPr txBox="1"/>
          <p:nvPr/>
        </p:nvSpPr>
        <p:spPr>
          <a:xfrm>
            <a:off x="838200" y="2214265"/>
            <a:ext cx="3693319" cy="270843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RandomSource {            //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인터페이스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virtual ~RandomSource() = default;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virtual int next(int bound) = 0;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class SecureRandomSource : public RandomSource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int next(int b) override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std::uniform_int_distribution&lt;int&gt; d(0,b-1);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return d(rd_);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std::random_device rd_;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+ RockPaperScissors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쪽에도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unique_ptr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멤버 선언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·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생성자 주입 코드가 더 붙는다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D45F0-5575-CB6B-DBAF-6849A9865447}"/>
              </a:ext>
            </a:extLst>
          </p:cNvPr>
          <p:cNvSpPr txBox="1"/>
          <p:nvPr/>
        </p:nvSpPr>
        <p:spPr>
          <a:xfrm>
            <a:off x="838200" y="1909465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random_source.hpp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외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— C++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전용 파일이 통째로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(~40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F46DD-6DBD-AF25-0E67-0C3DBAF64F5C}"/>
              </a:ext>
            </a:extLst>
          </p:cNvPr>
          <p:cNvSpPr txBox="1"/>
          <p:nvPr/>
        </p:nvSpPr>
        <p:spPr>
          <a:xfrm>
            <a:off x="6375400" y="1625600"/>
            <a:ext cx="2616101" cy="1523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__init__(self,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rng: Callable[[int], int]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    = secrets.randbelow):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self._rng = rng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테스트에서 교체도 한 줄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RockPaperScissors(rng=lambda _: 2)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→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컴퓨터는 항상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SCISSORS(2)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86699-A569-781E-41D6-3FDD13849B4C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game.py — Python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이게 전부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(1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BA732-0689-797A-A077-C34DB268F1F4}"/>
              </a:ext>
            </a:extLst>
          </p:cNvPr>
          <p:cNvSpPr txBox="1"/>
          <p:nvPr/>
        </p:nvSpPr>
        <p:spPr>
          <a:xfrm>
            <a:off x="6248400" y="3453894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함수가 일급 객체라 별도 인터페이스도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소유권 관리 코드도 필요 없다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98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7CB6A1A-5419-3596-A4C7-3D7DB012F822}"/>
              </a:ext>
            </a:extLst>
          </p:cNvPr>
          <p:cNvSpPr/>
          <p:nvPr/>
        </p:nvSpPr>
        <p:spPr>
          <a:xfrm>
            <a:off x="6248400" y="1270000"/>
            <a:ext cx="5232400" cy="228362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FA1F48-F727-1B34-BD5C-A2AE2882B3E1}"/>
              </a:ext>
            </a:extLst>
          </p:cNvPr>
          <p:cNvSpPr/>
          <p:nvPr/>
        </p:nvSpPr>
        <p:spPr>
          <a:xfrm>
            <a:off x="711200" y="1270000"/>
            <a:ext cx="5232400" cy="324183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60DB4-148B-B690-58FA-9AA984286A9D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B268E-6DDE-66F1-7E5D-A65A9587968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전체 구현 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9B9A1-7CB5-FD82-E01A-EA94EF6BED79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다국어 파서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정규화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12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줄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한 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37E0A-4A70-C3C4-A869-13F642E1DE2A}"/>
              </a:ext>
            </a:extLst>
          </p:cNvPr>
          <p:cNvSpPr txBox="1"/>
          <p:nvPr/>
        </p:nvSpPr>
        <p:spPr>
          <a:xfrm>
            <a:off x="838200" y="1625600"/>
            <a:ext cx="4001095" cy="270843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std::string normalize(const std::string&amp; in) {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const char* ws = " \t\r\n";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std::size_t b = in.find_first_not_of(ws);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if (b == std::string::npos) return "";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std::size_t e = in.find_last_not_of(ws);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std::string s = in.substr(b, e - b + 1);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std::transform(s.begin(), s.end(), s.begin(),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[](unsigned char c){ return std::tolower(c); });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return s;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   // +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헤더 파일 별도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파일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86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1CEBF-B23A-92B4-9CC2-376A5F4B2E18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hand_parser.cpp (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발췌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 — C++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공백 제거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+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소문자화 손수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6E804-9707-EF5E-A4E5-96BAE59E6201}"/>
              </a:ext>
            </a:extLst>
          </p:cNvPr>
          <p:cNvSpPr txBox="1"/>
          <p:nvPr/>
        </p:nvSpPr>
        <p:spPr>
          <a:xfrm>
            <a:off x="6375400" y="1625600"/>
            <a:ext cx="3936975" cy="17502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parse_hand(text: str) -&gt; Hand: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if text is None: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raise ValueError("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입력이 없습니다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.")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hand = _ALIASES.get(text.strip().lower())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if hand is None: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raise ValueError(f"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알 수 없는 손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{text!r}")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return hand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84184-89F9-91A5-81A3-2F7CBBACE01B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game.py — Python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파서 전체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(~12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)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9427A21-9582-A44A-9480-1FD9A742DBDF}"/>
              </a:ext>
            </a:extLst>
          </p:cNvPr>
          <p:cNvSpPr/>
          <p:nvPr/>
        </p:nvSpPr>
        <p:spPr>
          <a:xfrm>
            <a:off x="6248400" y="3756823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81A84-3270-B091-B27C-53C7BAFAE1D0}"/>
              </a:ext>
            </a:extLst>
          </p:cNvPr>
          <p:cNvSpPr txBox="1"/>
          <p:nvPr/>
        </p:nvSpPr>
        <p:spPr>
          <a:xfrm>
            <a:off x="6426200" y="3680623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정규화가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.strip().lower()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 줄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30BABD5-D310-BF1D-8478-5CBB98567986}"/>
              </a:ext>
            </a:extLst>
          </p:cNvPr>
          <p:cNvSpPr/>
          <p:nvPr/>
        </p:nvSpPr>
        <p:spPr>
          <a:xfrm>
            <a:off x="6248400" y="4033078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959D3-3B0A-0560-BFBA-4E435BEEA0F0}"/>
              </a:ext>
            </a:extLst>
          </p:cNvPr>
          <p:cNvSpPr txBox="1"/>
          <p:nvPr/>
        </p:nvSpPr>
        <p:spPr>
          <a:xfrm>
            <a:off x="6426200" y="3956878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헤더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구현 분리 없음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1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파일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6452B9D-005D-2A47-80F3-8D98069A7613}"/>
              </a:ext>
            </a:extLst>
          </p:cNvPr>
          <p:cNvSpPr/>
          <p:nvPr/>
        </p:nvSpPr>
        <p:spPr>
          <a:xfrm>
            <a:off x="6248400" y="4309333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D7941D-2E30-0759-A16C-8342F2A3A6DC}"/>
              </a:ext>
            </a:extLst>
          </p:cNvPr>
          <p:cNvSpPr txBox="1"/>
          <p:nvPr/>
        </p:nvSpPr>
        <p:spPr>
          <a:xfrm>
            <a:off x="6426200" y="4233133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str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곧 유니코드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CJK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변환 코드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0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(C++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Windows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wmain UTF-16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변환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~20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49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158AEB-1D45-157A-6CBC-622C6E34B8FE}"/>
              </a:ext>
            </a:extLst>
          </p:cNvPr>
          <p:cNvSpPr/>
          <p:nvPr/>
        </p:nvSpPr>
        <p:spPr>
          <a:xfrm>
            <a:off x="6248400" y="1270000"/>
            <a:ext cx="5232400" cy="2226171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319CA21-9921-3891-385F-BB3A0C49C2BE}"/>
              </a:ext>
            </a:extLst>
          </p:cNvPr>
          <p:cNvSpPr/>
          <p:nvPr/>
        </p:nvSpPr>
        <p:spPr>
          <a:xfrm>
            <a:off x="711200" y="1270000"/>
            <a:ext cx="5232400" cy="2734002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831004-E427-A891-0D25-8A73B28126F3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FADCA-CB86-1126-6F82-15EF79D22060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전체 구현 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9A607-55FD-C081-C59E-F67754900294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웹 계층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3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개 클래스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함수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1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A49CE-E7BE-8B07-0D33-208EB5B49B3F}"/>
              </a:ext>
            </a:extLst>
          </p:cNvPr>
          <p:cNvSpPr txBox="1"/>
          <p:nvPr/>
        </p:nvSpPr>
        <p:spPr>
          <a:xfrm>
            <a:off x="838200" y="1625600"/>
            <a:ext cx="4308872" cy="220060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@RestController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class GameController {      // 30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줄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@GetMapping("/api/play")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public GameResult play(@RequestParam String h) {...}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@RestControllerAdvice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class ApiExceptionHandler {  // 18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400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처리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@ExceptionHandler(...) ProblemDetail handle(...) {...}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@SpringBootApplication              // 23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부트 진입점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public class RockPaperScissorsApplication {...}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EA65B-6E1F-122D-6574-DFF6F35CE9A4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web/*.java — Java · Spring 71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줄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· 3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클래스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F7495-40B5-6744-F08B-F3F0C02C73FA}"/>
              </a:ext>
            </a:extLst>
          </p:cNvPr>
          <p:cNvSpPr txBox="1"/>
          <p:nvPr/>
        </p:nvSpPr>
        <p:spPr>
          <a:xfrm>
            <a:off x="6375400" y="1625600"/>
            <a:ext cx="4078039" cy="1692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app = FastAPI()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_game = RockPaperScissors()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@app.get("/api/play")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def play(h: str) -&gt; PlayResponse: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try: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r = _game.play(h)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except ValueError as exc:      # 400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처리도 여기서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raise HTTPException(400, str(exc))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return PlayResponse.of(r)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36F8C-522E-D565-0F13-58510F663105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rps/web.py — Python · FastAPI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함수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0D7E2-F063-6D93-41E5-762862380829}"/>
              </a:ext>
            </a:extLst>
          </p:cNvPr>
          <p:cNvSpPr txBox="1"/>
          <p:nvPr/>
        </p:nvSpPr>
        <p:spPr>
          <a:xfrm>
            <a:off x="6248400" y="3623171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컨트롤러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예외 핸들러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부트 진입점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3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개 클래스가 함수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데코레이터로 줄어든다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10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515216C-1C1C-0635-F3C3-E43FCFC765B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B5364-27C0-38F5-16D8-71E625C7FD7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언어 비교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4B1D5-FC2E-54BA-5B52-E823D9E6F54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같은 기능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필요한 전체 구현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1F48DF1-4E26-93A8-71E9-DA7213D64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47911"/>
              </p:ext>
            </p:extLst>
          </p:nvPr>
        </p:nvGraphicFramePr>
        <p:xfrm>
          <a:off x="711200" y="1270000"/>
          <a:ext cx="107696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994105036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10097866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31509145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00941165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기능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Java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C++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Python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6472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손 열거형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코드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역조회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34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41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~5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52184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테스트 가능한 난수 주입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인터페이스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~40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014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다국어 파서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정규화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57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86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·2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~12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7073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불변 결과 타입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record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15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0615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웹 엔드포인트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에러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71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·3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클래스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~10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904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6EF8DDC-F168-868E-16F6-AF86E746D65C}"/>
              </a:ext>
            </a:extLst>
          </p:cNvPr>
          <p:cNvSpPr txBox="1"/>
          <p:nvPr/>
        </p:nvSpPr>
        <p:spPr>
          <a:xfrm>
            <a:off x="711200" y="3098800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Python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의 이점은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클래스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인터페이스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파일을 새로 세워야 하는 곳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에서 극대화된다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90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CBC26C-9E8E-BEC2-23D6-4CFE6839B53D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25258-B65B-74C6-7B84-3B6E7FFCB397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규모가 커지면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5F964-BA89-F0C1-FADD-E992E12CCA7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격차는 더 벌어진다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그러나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D5BAC-F95A-B70B-5955-5C496E91B6C0}"/>
              </a:ext>
            </a:extLst>
          </p:cNvPr>
          <p:cNvSpPr txBox="1"/>
          <p:nvPr/>
        </p:nvSpPr>
        <p:spPr>
          <a:xfrm>
            <a:off x="7112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Java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에 얹히는 것들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8316AA8-945B-14C9-C630-2EE308FCFC66}"/>
              </a:ext>
            </a:extLst>
          </p:cNvPr>
          <p:cNvSpPr/>
          <p:nvPr/>
        </p:nvSpPr>
        <p:spPr>
          <a:xfrm>
            <a:off x="7112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D29D0-AE2A-7711-1263-62AD6E540AC6}"/>
              </a:ext>
            </a:extLst>
          </p:cNvPr>
          <p:cNvSpPr txBox="1"/>
          <p:nvPr/>
        </p:nvSpPr>
        <p:spPr>
          <a:xfrm>
            <a:off x="889000" y="1556266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Spring MVC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계층화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Controller → Service → Repository + DI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컨테이너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어노테이션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Bean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생명주기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C143385-1481-144B-D67A-A60CC05BC7DC}"/>
              </a:ext>
            </a:extLst>
          </p:cNvPr>
          <p:cNvSpPr/>
          <p:nvPr/>
        </p:nvSpPr>
        <p:spPr>
          <a:xfrm>
            <a:off x="711200" y="21087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E622-D63D-E38D-0494-DE3E9BFAC464}"/>
              </a:ext>
            </a:extLst>
          </p:cNvPr>
          <p:cNvSpPr txBox="1"/>
          <p:nvPr/>
        </p:nvSpPr>
        <p:spPr>
          <a:xfrm>
            <a:off x="889000" y="20325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OOP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관습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인터페이스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추상클래스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디자인 패턴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8065C57-5914-7E95-517F-B244C02D992B}"/>
              </a:ext>
            </a:extLst>
          </p:cNvPr>
          <p:cNvSpPr/>
          <p:nvPr/>
        </p:nvSpPr>
        <p:spPr>
          <a:xfrm>
            <a:off x="711200" y="23850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3F55D-15E3-2517-75F6-ED92C2A2AEEB}"/>
              </a:ext>
            </a:extLst>
          </p:cNvPr>
          <p:cNvSpPr txBox="1"/>
          <p:nvPr/>
        </p:nvSpPr>
        <p:spPr>
          <a:xfrm>
            <a:off x="889000" y="230883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GC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튜닝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힙 크기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GC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알고리즘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지연시간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81F6A-DBD0-1C9B-B78D-93A6ED603756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정직한 균형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BFE3C53-6477-4AB8-886C-9C3849F7D514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0F4C9-201C-161C-2AFC-66681936601E}"/>
              </a:ext>
            </a:extLst>
          </p:cNvPr>
          <p:cNvSpPr txBox="1"/>
          <p:nvPr/>
        </p:nvSpPr>
        <p:spPr>
          <a:xfrm>
            <a:off x="64262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 복잡성은 낭비가 아니라 투자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대규모 협업의 안전망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E589195-8E0B-3F22-F421-480D8CE7A799}"/>
              </a:ext>
            </a:extLst>
          </p:cNvPr>
          <p:cNvSpPr/>
          <p:nvPr/>
        </p:nvSpPr>
        <p:spPr>
          <a:xfrm>
            <a:off x="62484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CD1E30-97E9-2D45-6B66-D322281256A3}"/>
              </a:ext>
            </a:extLst>
          </p:cNvPr>
          <p:cNvSpPr txBox="1"/>
          <p:nvPr/>
        </p:nvSpPr>
        <p:spPr>
          <a:xfrm>
            <a:off x="64262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도 커지면 타입힌트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테스트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계층화를 스스로 도입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A89313F-3589-E3E7-D858-F40DBFC95BC2}"/>
              </a:ext>
            </a:extLst>
          </p:cNvPr>
          <p:cNvSpPr/>
          <p:nvPr/>
        </p:nvSpPr>
        <p:spPr>
          <a:xfrm>
            <a:off x="62484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B439E-804E-6940-FCA1-9423E23F5730}"/>
              </a:ext>
            </a:extLst>
          </p:cNvPr>
          <p:cNvSpPr txBox="1"/>
          <p:nvPr/>
        </p:nvSpPr>
        <p:spPr>
          <a:xfrm>
            <a:off x="6426200" y="21087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문제 규모에 맞는 도구가 다르다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복잡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나쁨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아니다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8791233-34A9-0E54-75DE-D84D12673A0B}"/>
              </a:ext>
            </a:extLst>
          </p:cNvPr>
          <p:cNvSpPr/>
          <p:nvPr/>
        </p:nvSpPr>
        <p:spPr>
          <a:xfrm>
            <a:off x="6248400" y="246123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8026F4-16F2-7C08-D650-232D5EE8709C}"/>
              </a:ext>
            </a:extLst>
          </p:cNvPr>
          <p:cNvSpPr txBox="1"/>
          <p:nvPr/>
        </p:nvSpPr>
        <p:spPr>
          <a:xfrm>
            <a:off x="6426200" y="2385031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가까운 예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연구 코드가 서비스가 되는 순간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conda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환경이 컨테이너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쿠버네티스로 옮겨질 때 계층화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튜닝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타입이 차례로 등장</a:t>
            </a:r>
          </a:p>
        </p:txBody>
      </p:sp>
    </p:spTree>
    <p:extLst>
      <p:ext uri="{BB962C8B-B14F-4D97-AF65-F5344CB8AC3E}">
        <p14:creationId xmlns:p14="http://schemas.microsoft.com/office/powerpoint/2010/main" val="1722242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2E4A79-4B96-59D3-7CB2-FD8258E0B591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D8F9F-1C69-FED0-5E2F-6BC248820DE8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디버깅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실행 순서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A4FF5-3B6F-42A5-74B7-33DF9882CFDC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순서가 어긋나면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nullptr · undefined · NameError</a:t>
            </a:r>
            <a:endParaRPr lang="ko-KR" altLang="en-US" sz="2400" b="1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C9485-EC57-89E6-C68D-4E644D12F416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정의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초기화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보다 사용이 먼저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 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언어마다 증상 이름만 다른 한 가족의 버그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00D7AEB-E48F-F6BC-71B9-15DA02CFAA8D}"/>
              </a:ext>
            </a:extLst>
          </p:cNvPr>
          <p:cNvSpPr/>
          <p:nvPr/>
        </p:nvSpPr>
        <p:spPr>
          <a:xfrm>
            <a:off x="711200" y="170403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84E1C-93F6-7091-7AE8-FFAC1501711B}"/>
              </a:ext>
            </a:extLst>
          </p:cNvPr>
          <p:cNvSpPr txBox="1"/>
          <p:nvPr/>
        </p:nvSpPr>
        <p:spPr>
          <a:xfrm>
            <a:off x="889000" y="162783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C++ 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컴파일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링크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파일 간 전역 객체 초기화 순서는 보장 안 됨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(static initialization order fiasco)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CE4BB33-8AAC-A90F-14B6-CCEF6D8332D8}"/>
              </a:ext>
            </a:extLst>
          </p:cNvPr>
          <p:cNvSpPr/>
          <p:nvPr/>
        </p:nvSpPr>
        <p:spPr>
          <a:xfrm>
            <a:off x="711200" y="198028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2F999-DFF8-E127-14F0-DB4E524F010E}"/>
              </a:ext>
            </a:extLst>
          </p:cNvPr>
          <p:cNvSpPr txBox="1"/>
          <p:nvPr/>
        </p:nvSpPr>
        <p:spPr>
          <a:xfrm>
            <a:off x="889000" y="1904087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초기화 전 참조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nullptr·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쓰레기 값 크래시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링크 순서가 틀리면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undefined reference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A54462D-F5EC-2B4D-B018-E017650BDAD7}"/>
              </a:ext>
            </a:extLst>
          </p:cNvPr>
          <p:cNvSpPr/>
          <p:nvPr/>
        </p:nvSpPr>
        <p:spPr>
          <a:xfrm>
            <a:off x="711200" y="225654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102F9-67FC-4091-FF78-DC3B002A0BEB}"/>
              </a:ext>
            </a:extLst>
          </p:cNvPr>
          <p:cNvSpPr txBox="1"/>
          <p:nvPr/>
        </p:nvSpPr>
        <p:spPr>
          <a:xfrm>
            <a:off x="889000" y="218034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 ·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실행 시점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위에서 아래로 실행하며 이름을 만듦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정의 전에 호출하면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NameError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8265540-7129-0B23-9298-9FC8E2BAB312}"/>
              </a:ext>
            </a:extLst>
          </p:cNvPr>
          <p:cNvSpPr/>
          <p:nvPr/>
        </p:nvSpPr>
        <p:spPr>
          <a:xfrm>
            <a:off x="711200" y="253279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3CD46-7181-20F9-F67A-4F1158DD54DA}"/>
              </a:ext>
            </a:extLst>
          </p:cNvPr>
          <p:cNvSpPr txBox="1"/>
          <p:nvPr/>
        </p:nvSpPr>
        <p:spPr>
          <a:xfrm>
            <a:off x="889000" y="2456597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순환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import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반쯤 초기화된 모듈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→ AttributeError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C76FF11-D8E3-B2A4-5023-FCCAC0A6AC03}"/>
              </a:ext>
            </a:extLst>
          </p:cNvPr>
          <p:cNvSpPr/>
          <p:nvPr/>
        </p:nvSpPr>
        <p:spPr>
          <a:xfrm>
            <a:off x="711200" y="280905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91A21-6C6A-E7C8-4DAC-C9DFFE364863}"/>
              </a:ext>
            </a:extLst>
          </p:cNvPr>
          <p:cNvSpPr txBox="1"/>
          <p:nvPr/>
        </p:nvSpPr>
        <p:spPr>
          <a:xfrm>
            <a:off x="889000" y="273285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JavaScript — var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선언은 끌어올려지고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호이스팅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값 대입은 제자리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 사이에 읽으면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undefined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82B501-BF2F-905F-7DA2-9B5028D73D14}"/>
              </a:ext>
            </a:extLst>
          </p:cNvPr>
          <p:cNvSpPr txBox="1"/>
          <p:nvPr/>
        </p:nvSpPr>
        <p:spPr>
          <a:xfrm>
            <a:off x="711200" y="3059907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세 증상의 뿌리는 하나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이 이름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주소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이 쓰이는 시점에 준비돼 있는가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?"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실행 모델을 알면 어느 단계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컴파일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링크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실행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에서 터졌는지로 원인을 좁힐 수 있다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804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799303-BD0E-6E00-4BA0-D6149D51340F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70760-3734-8BB1-87DB-D741E8FEB41C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디버깅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OOM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의 정체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A4E22-860E-4493-F1BA-7DAD40DD0299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OOM — 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메모리 부족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이 전부가 아니다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2D0F4-A51C-B380-62B0-E23032579CB0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이름부터 함정이다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"Out of Memory"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라고 해서 램이 정말 모자랐다는 뜻이 아니다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실제 현장의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OOM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은 대부분 다른 이유다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93DBEDF-0525-C023-B2C9-F4E7755AC190}"/>
              </a:ext>
            </a:extLst>
          </p:cNvPr>
          <p:cNvSpPr/>
          <p:nvPr/>
        </p:nvSpPr>
        <p:spPr>
          <a:xfrm>
            <a:off x="711200" y="170403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9F911-18EE-A740-0BD2-E96A5BD14B5B}"/>
              </a:ext>
            </a:extLst>
          </p:cNvPr>
          <p:cNvSpPr txBox="1"/>
          <p:nvPr/>
        </p:nvSpPr>
        <p:spPr>
          <a:xfrm>
            <a:off x="889000" y="162783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① 누수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참조를 쥐고 있으면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아직 쓰는 중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으로 판단해 치울 수 없다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회수가 불가능해서 죽는다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FC60D4F-B7E4-48A0-C152-D764D2E467C5}"/>
              </a:ext>
            </a:extLst>
          </p:cNvPr>
          <p:cNvSpPr/>
          <p:nvPr/>
        </p:nvSpPr>
        <p:spPr>
          <a:xfrm>
            <a:off x="711200" y="198028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08600B-991C-6090-A813-8AB800B973A9}"/>
              </a:ext>
            </a:extLst>
          </p:cNvPr>
          <p:cNvSpPr txBox="1"/>
          <p:nvPr/>
        </p:nvSpPr>
        <p:spPr>
          <a:xfrm>
            <a:off x="889000" y="1904087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② 한도 도달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JVM -Xmx,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컨테이너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(cgroup) memory limit: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서버 램이 남아돌아도 상한 넘으면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OOM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953EEDB-1676-5216-4871-9F4E92D866CC}"/>
              </a:ext>
            </a:extLst>
          </p:cNvPr>
          <p:cNvSpPr/>
          <p:nvPr/>
        </p:nvSpPr>
        <p:spPr>
          <a:xfrm>
            <a:off x="711200" y="225654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97097-DAF4-6B1C-CE59-A658D530C79C}"/>
              </a:ext>
            </a:extLst>
          </p:cNvPr>
          <p:cNvSpPr txBox="1"/>
          <p:nvPr/>
        </p:nvSpPr>
        <p:spPr>
          <a:xfrm>
            <a:off x="889000" y="2180342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③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OOM Killer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리눅스 커널이 프로세스를 골라 강제 종료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쿠버네티스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OOMKilled(exit 137)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이것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C333EF3-AFEF-3163-861E-C5589662FC36}"/>
              </a:ext>
            </a:extLst>
          </p:cNvPr>
          <p:cNvSpPr/>
          <p:nvPr/>
        </p:nvSpPr>
        <p:spPr>
          <a:xfrm>
            <a:off x="711200" y="253279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D1EE2-6AA9-2632-0184-E48AAC244773}"/>
              </a:ext>
            </a:extLst>
          </p:cNvPr>
          <p:cNvSpPr txBox="1"/>
          <p:nvPr/>
        </p:nvSpPr>
        <p:spPr>
          <a:xfrm>
            <a:off x="889000" y="2456597"/>
            <a:ext cx="1056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진단 순서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무엇이 안 치워지나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?(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누수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→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한도가 얼마인가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?(-Xmx·limit) →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누가 죽였나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?(exit 137)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5432FC-3633-0CA9-2265-521201062CA0}"/>
              </a:ext>
            </a:extLst>
          </p:cNvPr>
          <p:cNvSpPr txBox="1"/>
          <p:nvPr/>
        </p:nvSpPr>
        <p:spPr>
          <a:xfrm>
            <a:off x="711200" y="2783652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실전 예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VS Code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창의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reason: 'oom'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크래시는 램 부족이 아니라 그 창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렌더러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의 한도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누수 문제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해결책도 램 증설이 아닌 확장 비활성화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캐시 삭제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한도 조정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6BD85-A4AC-E42E-36DF-C0176228FD9C}"/>
              </a:ext>
            </a:extLst>
          </p:cNvPr>
          <p:cNvSpPr txBox="1"/>
          <p:nvPr/>
        </p:nvSpPr>
        <p:spPr>
          <a:xfrm>
            <a:off x="711200" y="3069918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OOM(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할당 실패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, exit 137) ≠ nullptr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크래시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접근 위반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, exit 139) 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단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malloc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은 부족하면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NULL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을 주므로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OOM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nullptr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크래시로 위장되곤 한다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085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FAD716-7EBB-3C7F-C9F0-80F8BB569CC2}"/>
              </a:ext>
            </a:extLst>
          </p:cNvPr>
          <p:cNvSpPr/>
          <p:nvPr/>
        </p:nvSpPr>
        <p:spPr>
          <a:xfrm>
            <a:off x="6248400" y="1270000"/>
            <a:ext cx="5232400" cy="253638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272F25-F1B4-E2A1-B8D3-A4C0565969E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3F00F-8FBA-4CF0-D2F7-96D8AB59948E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디버깅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에러 라벨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32741-EBBF-BE32-551D-F721DB5C7096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같은 에러에 해결책이 수십 개인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ECAC1-53F5-5DB5-497B-855F799A68CF}"/>
              </a:ext>
            </a:extLst>
          </p:cNvPr>
          <p:cNvSpPr txBox="1"/>
          <p:nvPr/>
        </p:nvSpPr>
        <p:spPr>
          <a:xfrm>
            <a:off x="711200" y="1270000"/>
            <a:ext cx="5232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VS Code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'oom'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크래시는 확장 누수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대용량 파일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심지어 코딩 폰트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합자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(CommitMono·PragmataPro Liga — #239541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확인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조합으로도 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왜 전부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"oom"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한 단어일까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?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8CB2C3-3167-5EA3-5EEE-647F0F930E7C}"/>
              </a:ext>
            </a:extLst>
          </p:cNvPr>
          <p:cNvSpPr/>
          <p:nvPr/>
        </p:nvSpPr>
        <p:spPr>
          <a:xfrm>
            <a:off x="711200" y="216569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FAF53-DFFC-89E3-AB94-1020AC085CA0}"/>
              </a:ext>
            </a:extLst>
          </p:cNvPr>
          <p:cNvSpPr txBox="1"/>
          <p:nvPr/>
        </p:nvSpPr>
        <p:spPr>
          <a:xfrm>
            <a:off x="889000" y="2089497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수많은 원인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누수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폭주 루프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폰트 렌더링 버그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전부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메모리 고갈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이라는 같은 종착지로 흘러든다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5F00C19-614C-CAFC-3AFC-3E294A53E3A1}"/>
              </a:ext>
            </a:extLst>
          </p:cNvPr>
          <p:cNvSpPr/>
          <p:nvPr/>
        </p:nvSpPr>
        <p:spPr>
          <a:xfrm>
            <a:off x="711200" y="264200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D3F98-C3E3-DDAC-3B23-0FB9A8158F75}"/>
              </a:ext>
            </a:extLst>
          </p:cNvPr>
          <p:cNvSpPr txBox="1"/>
          <p:nvPr/>
        </p:nvSpPr>
        <p:spPr>
          <a:xfrm>
            <a:off x="889000" y="2565807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부모 프로세스는 죽은 자식의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exit code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만 보고 라벨을 붙인다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'oom'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분류명일 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F57939A-BD2B-26BE-BB5C-A837018E0770}"/>
              </a:ext>
            </a:extLst>
          </p:cNvPr>
          <p:cNvSpPr/>
          <p:nvPr/>
        </p:nvSpPr>
        <p:spPr>
          <a:xfrm>
            <a:off x="711200" y="3118317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799A3-18A5-D3EA-2B12-9ACEBCABE15C}"/>
              </a:ext>
            </a:extLst>
          </p:cNvPr>
          <p:cNvSpPr txBox="1"/>
          <p:nvPr/>
        </p:nvSpPr>
        <p:spPr>
          <a:xfrm>
            <a:off x="889000" y="3042117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공식 이슈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(#226484)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8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가지를 시도하고도 원인 미상으로 닫혔다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4AD41F8-EE1F-314C-0D81-12B7BE013A4F}"/>
              </a:ext>
            </a:extLst>
          </p:cNvPr>
          <p:cNvSpPr/>
          <p:nvPr/>
        </p:nvSpPr>
        <p:spPr>
          <a:xfrm>
            <a:off x="711200" y="339457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6050B-7EA5-F3B1-4CC2-BD593B91EE53}"/>
              </a:ext>
            </a:extLst>
          </p:cNvPr>
          <p:cNvSpPr txBox="1"/>
          <p:nvPr/>
        </p:nvSpPr>
        <p:spPr>
          <a:xfrm>
            <a:off x="889000" y="3318372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라벨→범인 예측은 불가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역추적만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재현 조건 격리 →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A/B(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폰트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합자 끄기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→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덤프 스택 → 프로파일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936D93-9346-5120-9E6E-2B72DB44860F}"/>
              </a:ext>
            </a:extLst>
          </p:cNvPr>
          <p:cNvSpPr/>
          <p:nvPr/>
        </p:nvSpPr>
        <p:spPr>
          <a:xfrm>
            <a:off x="711200" y="3870882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60804F-C42F-7C3A-E41D-D039C2DF4863}"/>
              </a:ext>
            </a:extLst>
          </p:cNvPr>
          <p:cNvSpPr txBox="1"/>
          <p:nvPr/>
        </p:nvSpPr>
        <p:spPr>
          <a:xfrm>
            <a:off x="889000" y="3794682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실측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라벨은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'oom'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이어도 이벤트 뷰어엔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"WebView2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보안 정책 위반 강제 종료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진짜 사인은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OS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장부에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4A5BB-5C99-2C84-E59F-A2E74105ECF2}"/>
              </a:ext>
            </a:extLst>
          </p:cNvPr>
          <p:cNvSpPr txBox="1"/>
          <p:nvPr/>
        </p:nvSpPr>
        <p:spPr>
          <a:xfrm>
            <a:off x="6375400" y="1625600"/>
            <a:ext cx="4001095" cy="200298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C++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처리 방식에 따라 다른 죽음으로 보인다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new T;           // bad_alloc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예외 → 안 잡으면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abort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new(nothrow) T;  // nullptr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반환 → 미검사면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segfault!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Java — OOM Error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를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catch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 삼키면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try { ... } catch (OutOfMemoryError e) { }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→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반쯤 초기화된 채 살아남아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//  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나중에 엉뚱한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NPE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 재등장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53F1B8-6A55-F2A9-A318-B7B395C739ED}"/>
              </a:ext>
            </a:extLst>
          </p:cNvPr>
          <p:cNvSpPr txBox="1"/>
          <p:nvPr/>
        </p:nvSpPr>
        <p:spPr>
          <a:xfrm>
            <a:off x="63754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같은 할당 실패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다른 라벨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02F3D-B2E9-F4AF-CDD4-21EB31C78972}"/>
              </a:ext>
            </a:extLst>
          </p:cNvPr>
          <p:cNvSpPr txBox="1"/>
          <p:nvPr/>
        </p:nvSpPr>
        <p:spPr>
          <a:xfrm>
            <a:off x="6248400" y="3933384"/>
            <a:ext cx="5232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라벨은 마지막으로 잡은 계층이 붙인다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진짜 질문은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이 라벨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누가 붙였나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?" — "fixed"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는 사슬 하나가 끊겼다는 뜻일 뿐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같은 라벨은 다른 범인으로 재발한다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737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DFFB41-92AE-FF3B-F004-B757689E479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713EB-D791-4ACB-7B77-683D382E7386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디버깅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종합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E6EA1-FD4E-39F6-10D1-C835773512C2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CS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를 모르면 잡을 수 없는 버그들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CBCAC-22B7-8671-2ABD-B1F703FE5FC4}"/>
              </a:ext>
            </a:extLst>
          </p:cNvPr>
          <p:cNvSpPr txBox="1"/>
          <p:nvPr/>
        </p:nvSpPr>
        <p:spPr>
          <a:xfrm>
            <a:off x="711200" y="1270000"/>
            <a:ext cx="10769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레거시 세대가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당연히 확인하던 것들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이 두꺼운 추상화에 가려 안 보이게 됐다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증상은 위층에서 보여도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원인은 아래층에 있다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19516BC-B59A-CBFA-E698-EA7486315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893440"/>
              </p:ext>
            </p:extLst>
          </p:nvPr>
        </p:nvGraphicFramePr>
        <p:xfrm>
          <a:off x="711200" y="1858665"/>
          <a:ext cx="107696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580028177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299113607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137900746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96197409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증상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순진한 해석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진짜 원인 후보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필요한 아래층 지식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94332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OOM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램 부족 → 늘리자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누수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한도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(-Xmx/limit) ·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주소공간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단편화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메모리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·GC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274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nullptr·NameError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코드가 이상해요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초기화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링크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 순서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번역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 모델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04787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한글이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???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폰트 문제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?"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인코딩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코드페이지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vs UTF-8)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문자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30192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0.1+0.2 ≠ 0.3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언어 버그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?"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부동소수점 이진 표현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수 표현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5851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어제는 됐는데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컴퓨터 탓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의존성 버전 범위가 새 버전을 당김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고정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vs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범위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(02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장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8656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느려요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서버 늘리자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"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pt-BR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GIL · GC pause · O(n²)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 모델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자료구조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544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DAE2C1-2539-6DE1-917F-4104E95682F1}"/>
              </a:ext>
            </a:extLst>
          </p:cNvPr>
          <p:cNvSpPr txBox="1"/>
          <p:nvPr/>
        </p:nvSpPr>
        <p:spPr>
          <a:xfrm>
            <a:off x="711200" y="3966865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도구가 좋아질수록 이 격차는 더 벌어진다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AI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가 코드를 쓰는 시대일수록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아래층을 읽는 능력이 곧 디버깅 능력이다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27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BDC7FA-13BE-B784-D720-2034A434D4E6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EE294-5043-0A56-0F41-07FF22C6B1FC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· Labs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68C1A-BE06-323E-8CB6-B2884589ABE2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손으로 직접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실습 랩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6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23C85-C87E-65EC-6F48-97D0EB9BA9D2}"/>
              </a:ext>
            </a:extLst>
          </p:cNvPr>
          <p:cNvSpPr txBox="1"/>
          <p:nvPr/>
        </p:nvSpPr>
        <p:spPr>
          <a:xfrm>
            <a:off x="711200" y="1270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개념은 읽어서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도구는 만들어서 익힌다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각 랩은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5~15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분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끝에는 정리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삭제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단계까지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만들고 지워 보면 된다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1FAA78C-440D-5323-F719-FEDF37CAC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12043"/>
              </p:ext>
            </p:extLst>
          </p:nvPr>
        </p:nvGraphicFramePr>
        <p:xfrm>
          <a:off x="711200" y="1627832"/>
          <a:ext cx="107696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2576367786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678032028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154942992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랩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주제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한 줄 소개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7987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01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바이너리 직접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설치 없이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zip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받아 압축 해제 →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python.exe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직접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441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02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venv + pip + requirements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표준 가상환경과 버전 고정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범위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1915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uv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uv sync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한 방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요즘 권장 경로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9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04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poetry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의존성 관리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패키징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배포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275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05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conda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파이썬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네이티브 스택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.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데이터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/ML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85026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실습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06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웹 서버 배포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uvicorn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개발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gunicorn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운영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(WSL·Docker)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50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196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18ECDC-3DD5-61BF-02CD-6723A594A2A5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14B71-BE3E-B1F0-2005-23A04415CD7B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바이너리 직접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8B688-84AF-44E2-8324-9ED50C730DCA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설치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와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직접 실행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은 다르다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C59A3-8424-93BA-A279-9B14310F1B2F}"/>
              </a:ext>
            </a:extLst>
          </p:cNvPr>
          <p:cNvSpPr txBox="1"/>
          <p:nvPr/>
        </p:nvSpPr>
        <p:spPr>
          <a:xfrm>
            <a:off x="711200" y="1270000"/>
            <a:ext cx="10769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python.org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에서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zip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하나를 받아 압축만 풀고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그 안의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python.exe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로 가위바위보를 돌린다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인터프리터도 결국 폴더 안의 실행 파일임을 확인하는 실습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037B8E-9679-B8A7-6E52-316A3D56B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05792"/>
              </p:ext>
            </p:extLst>
          </p:nvPr>
        </p:nvGraphicFramePr>
        <p:xfrm>
          <a:off x="711200" y="1858665"/>
          <a:ext cx="10769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1674442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3002723163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78861099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설치판 </a:t>
                      </a:r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(installer)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embeddable (zip) ← </a:t>
                      </a:r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이 실습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017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받는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설치 프로그램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(.exe)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압축 파일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(.zip)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2327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하는 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PATH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등록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py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런처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레지스트리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압축 해제가 끝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아무것도 등록 안 함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134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어디서든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python, py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폴더 안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python.exe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를 경로로 직접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7869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용도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개발 환경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앱에 파이썬 동봉 배포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격리 실행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9624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6549F9-4ED0-A0D2-ADCE-7B9AE8005680}"/>
              </a:ext>
            </a:extLst>
          </p:cNvPr>
          <p:cNvSpPr txBox="1"/>
          <p:nvPr/>
        </p:nvSpPr>
        <p:spPr>
          <a:xfrm>
            <a:off x="711200" y="3408065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PC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에서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py --list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가 되는 건 설치판이 등록해 둔 편의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이 실습은 그 도움 없이 바이너리를 직접 다룬다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426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5D3522D-81A6-A05E-C9D3-CAD4E37DE378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43901F-7534-F85A-ABA1-58FB632BDF55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EB12A-C806-A4B2-8393-B93484992138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바이너리 직접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56736-4A7E-791A-7197-5B8518888533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받아서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풀고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바로 실행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AE7AC-93EB-57BF-59EB-2F7F2AB17A60}"/>
              </a:ext>
            </a:extLst>
          </p:cNvPr>
          <p:cNvSpPr txBox="1"/>
          <p:nvPr/>
        </p:nvSpPr>
        <p:spPr>
          <a:xfrm>
            <a:off x="838200" y="1625600"/>
            <a:ext cx="4231928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cd $env:TEMP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curl.exe -L -o pyembed.zip https://www.python.org/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ftp/python/3.13.0/python-3.13.0-embed-amd64.zip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Expand-Archive pyembed.zip C:\py-embed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C:\py-embed\python.exe --version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Python 3.13.0 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설치 과정 없이 실행됐다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macOS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단독 빌드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tar.gz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같은 개념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curl -LO github.com/astral-sh/python-build-standalone/…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tar -xzf cpython-*.tar.gz &amp;&amp; ./python/bin/python3 -V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FC6CB-85EB-2500-93DA-8024D6C8FB21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PowerShell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9E7CCF5-E8B5-B31A-59CD-3654A301C12E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AB378-45A9-2879-348D-FD060761F71E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python.exe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인터프리터 본체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4C4B418-0E03-EF8C-B348-4E319C397F56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6C57B-0432-0624-ABDB-BD83B3A02E46}"/>
              </a:ext>
            </a:extLst>
          </p:cNvPr>
          <p:cNvSpPr txBox="1"/>
          <p:nvPr/>
        </p:nvSpPr>
        <p:spPr>
          <a:xfrm>
            <a:off x="6426200" y="154625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python313.dll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인터프리터의 실제 구현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25AFECC-0723-C47B-8F2A-46404C529353}"/>
              </a:ext>
            </a:extLst>
          </p:cNvPr>
          <p:cNvSpPr/>
          <p:nvPr/>
        </p:nvSpPr>
        <p:spPr>
          <a:xfrm>
            <a:off x="6248400" y="18987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10A4A-D466-80FD-B203-DF91EF194634}"/>
              </a:ext>
            </a:extLst>
          </p:cNvPr>
          <p:cNvSpPr txBox="1"/>
          <p:nvPr/>
        </p:nvSpPr>
        <p:spPr>
          <a:xfrm>
            <a:off x="6426200" y="18225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python313.zip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표준 라이브러리 통째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(secrets·enum…)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002509C-83FB-ABF1-FB40-0B3A199BC343}"/>
              </a:ext>
            </a:extLst>
          </p:cNvPr>
          <p:cNvSpPr/>
          <p:nvPr/>
        </p:nvSpPr>
        <p:spPr>
          <a:xfrm>
            <a:off x="6248400" y="21749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52B82-0D46-987A-86A1-D68362B84DBB}"/>
              </a:ext>
            </a:extLst>
          </p:cNvPr>
          <p:cNvSpPr txBox="1"/>
          <p:nvPr/>
        </p:nvSpPr>
        <p:spPr>
          <a:xfrm>
            <a:off x="6426200" y="20987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python313._pth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모듈 탐색 경로 설정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다음 장의 주인공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D70DF82-8D1A-4515-AEAF-50E87D36F774}"/>
              </a:ext>
            </a:extLst>
          </p:cNvPr>
          <p:cNvSpPr/>
          <p:nvPr/>
        </p:nvSpPr>
        <p:spPr>
          <a:xfrm>
            <a:off x="6248400" y="24512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3D2501-44B5-7CA9-B4EB-812C2C4C738C}"/>
              </a:ext>
            </a:extLst>
          </p:cNvPr>
          <p:cNvSpPr txBox="1"/>
          <p:nvPr/>
        </p:nvSpPr>
        <p:spPr>
          <a:xfrm>
            <a:off x="6426200" y="23750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*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.pyd — 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짠 표준 모듈들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59774-79B1-6D9C-9413-87AAABA3B8D2}"/>
              </a:ext>
            </a:extLst>
          </p:cNvPr>
          <p:cNvSpPr txBox="1"/>
          <p:nvPr/>
        </p:nvSpPr>
        <p:spPr>
          <a:xfrm>
            <a:off x="6248400" y="2702075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→ 폴더 하나로 완결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핵심 로직이 표준 라이브러리만 쓰는 우리 게임은 이대로 돌 준비가 끝났다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350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6FD55F-5B81-FDAE-EC76-FEE0752141C7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324D7C-EC32-890C-A3D0-6FDE0A7E232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52F42-D092-F992-7B49-DF5546AB063E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01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바이너리 직접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CC393-E853-3E49-D7DD-434FB648EA63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함정 → 해법 → 교훈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C7414-A4C0-ED9C-D83B-FC2AECDDCA7F}"/>
              </a:ext>
            </a:extLst>
          </p:cNvPr>
          <p:cNvSpPr txBox="1"/>
          <p:nvPr/>
        </p:nvSpPr>
        <p:spPr>
          <a:xfrm>
            <a:off x="838200" y="1625600"/>
            <a:ext cx="3808735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cd C:\repo\…\rock-paper-scissors-python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$env:PYTHONPATH = "src"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C:\py-embed\python.exe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No module named rps      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실패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!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._pth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가 경로를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잠가서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 PYTHONPATH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를 무시한다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Add-Content C:\py-embed\python313._pth "…\src"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C:\py-embed\python.exe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당신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ROCK 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컴퓨터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ROCK -&gt; DRAW 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성공 ✅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Remove-Item -Recurse -Force C:\py-embed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정리 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86DA1-BD42-F32E-C8AF-8D413D7059ED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실패부터 성공까지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3F1BE3C-0C68-6361-B17C-732ED6A628B4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590F8-6FCA-C7B9-EEB8-6AF0B295EC28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인터프리터가 모듈을 찾는 경로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(sys.path)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설정 가능한 목록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No module named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오류의 정체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CDA8FEC-3E12-8E1B-2B4D-C187683796D4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A04DC-3493-4E43-D3A8-A7BD592A070B}"/>
              </a:ext>
            </a:extLst>
          </p:cNvPr>
          <p:cNvSpPr txBox="1"/>
          <p:nvPr/>
        </p:nvSpPr>
        <p:spPr>
          <a:xfrm>
            <a:off x="6426200" y="174631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설치판은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PYTHONPATH·site-packages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embeddable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._pth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그 목록을 관리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격리가 목적이라 잠금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24E928-86CB-3706-8A24-63D522FAFA70}"/>
              </a:ext>
            </a:extLst>
          </p:cNvPr>
          <p:cNvSpPr/>
          <p:nvPr/>
        </p:nvSpPr>
        <p:spPr>
          <a:xfrm>
            <a:off x="6248400" y="22988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20A3BF-E7CB-81EE-6E9E-646F9F96A562}"/>
              </a:ext>
            </a:extLst>
          </p:cNvPr>
          <p:cNvSpPr txBox="1"/>
          <p:nvPr/>
        </p:nvSpPr>
        <p:spPr>
          <a:xfrm>
            <a:off x="6426200" y="22226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macOS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단독 빌드는 잠금이 없어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PYTHONPATH=src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그대로 동작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FFEBF5A-65CE-0AA7-AB18-827642425FB0}"/>
              </a:ext>
            </a:extLst>
          </p:cNvPr>
          <p:cNvSpPr/>
          <p:nvPr/>
        </p:nvSpPr>
        <p:spPr>
          <a:xfrm>
            <a:off x="6248400" y="257507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ABFD7-BA9C-5EA5-BFBD-3377105B217B}"/>
              </a:ext>
            </a:extLst>
          </p:cNvPr>
          <p:cNvSpPr txBox="1"/>
          <p:nvPr/>
        </p:nvSpPr>
        <p:spPr>
          <a:xfrm>
            <a:off x="6426200" y="249887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폴더 삭제가 끝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레지스트리에 아무것도 안 남겼으니까</a:t>
            </a:r>
          </a:p>
        </p:txBody>
      </p:sp>
    </p:spTree>
    <p:extLst>
      <p:ext uri="{BB962C8B-B14F-4D97-AF65-F5344CB8AC3E}">
        <p14:creationId xmlns:p14="http://schemas.microsoft.com/office/powerpoint/2010/main" val="3380405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F5DDAB-D80C-AF9E-E027-E3687DA963F3}"/>
              </a:ext>
            </a:extLst>
          </p:cNvPr>
          <p:cNvSpPr/>
          <p:nvPr/>
        </p:nvSpPr>
        <p:spPr>
          <a:xfrm>
            <a:off x="711200" y="1270000"/>
            <a:ext cx="5232400" cy="2564725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D6A7E-5A1E-60EA-19DF-713BD740FBD8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A1790-0148-FE18-D7B6-D881C5A81DE7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02 · venv + pip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F5BF7-6DFD-FCB2-5773-091A0C275381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상자를 만들고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안으로 들어간다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032C1-2F94-0C8E-ED37-4BB3D155159A}"/>
              </a:ext>
            </a:extLst>
          </p:cNvPr>
          <p:cNvSpPr txBox="1"/>
          <p:nvPr/>
        </p:nvSpPr>
        <p:spPr>
          <a:xfrm>
            <a:off x="838200" y="1625600"/>
            <a:ext cx="3770263" cy="203132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── Windows (PowerShell)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 -3.11 -m venv .venv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.\.venv\Scripts\Activate.ps1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스크립트 실행 불가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"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오류가 나면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자주 겪음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Set-ExecutionPolicy -Scope Process Bypass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── macOS 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터미널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python3.11 -m venv .venv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source .venv/bin/activate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(.venv) PS C:\…&gt;   #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프롬프트 접두사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상자 안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python --version   # Python 3.11.9 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상자의 파이썬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DFD28-61F0-28D4-54D1-7C2BB6118FBA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생성 → 활성화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877EC-A2C2-D15F-3016-7CF338C2514E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.venv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안에 생긴 것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57C816-38EE-8A71-9A79-E8EAF52AED2A}"/>
              </a:ext>
            </a:extLst>
          </p:cNvPr>
          <p:cNvSpPr/>
          <p:nvPr/>
        </p:nvSpPr>
        <p:spPr>
          <a:xfrm>
            <a:off x="6248400" y="163246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8B7F6-8E73-34A8-A377-C2078C7043A5}"/>
              </a:ext>
            </a:extLst>
          </p:cNvPr>
          <p:cNvSpPr txBox="1"/>
          <p:nvPr/>
        </p:nvSpPr>
        <p:spPr>
          <a:xfrm>
            <a:off x="6426200" y="155626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Scripts/python.exe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상자 전용 파이썬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46F264B-5DA5-7136-855D-4E088A43D224}"/>
              </a:ext>
            </a:extLst>
          </p:cNvPr>
          <p:cNvSpPr/>
          <p:nvPr/>
        </p:nvSpPr>
        <p:spPr>
          <a:xfrm>
            <a:off x="6248400" y="1908721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58CC7-CD85-829A-ACBC-7D1A4C75967D}"/>
              </a:ext>
            </a:extLst>
          </p:cNvPr>
          <p:cNvSpPr txBox="1"/>
          <p:nvPr/>
        </p:nvSpPr>
        <p:spPr>
          <a:xfrm>
            <a:off x="6426200" y="1832521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Scripts/pip.exe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전용 설치기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87D5D59-5292-C7DA-3780-B7D413178F11}"/>
              </a:ext>
            </a:extLst>
          </p:cNvPr>
          <p:cNvSpPr/>
          <p:nvPr/>
        </p:nvSpPr>
        <p:spPr>
          <a:xfrm>
            <a:off x="6248400" y="2184976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878F1-A3D2-33E4-45CD-FD38C500CFEE}"/>
              </a:ext>
            </a:extLst>
          </p:cNvPr>
          <p:cNvSpPr txBox="1"/>
          <p:nvPr/>
        </p:nvSpPr>
        <p:spPr>
          <a:xfrm>
            <a:off x="6426200" y="2108776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Lib/site-packages/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여기에만 설치됨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E92A7-B74E-7F92-07ED-EAAA902C4CB6}"/>
              </a:ext>
            </a:extLst>
          </p:cNvPr>
          <p:cNvSpPr txBox="1"/>
          <p:nvPr/>
        </p:nvSpPr>
        <p:spPr>
          <a:xfrm>
            <a:off x="6248400" y="2435831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프로젝트마다 상자를 따로 → 버전 충돌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·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오염 방지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상자는 커밋하지 않는다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각자 만든다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).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나갈 땐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deactivate.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934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89B71B-33D6-E19B-8B28-DF8BFDF9987A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9C596D-C365-2783-0F64-968147C14FA5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A1CE2-D001-E693-B10E-5435A8FEF2E6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02 · venv + pip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DF546-E2D9-654E-35AE-0C93D2A4D349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설치 두 경로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그리고 스냅샷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BCD8D-D430-BCAC-2078-34C36C775316}"/>
              </a:ext>
            </a:extLst>
          </p:cNvPr>
          <p:cNvSpPr txBox="1"/>
          <p:nvPr/>
        </p:nvSpPr>
        <p:spPr>
          <a:xfrm>
            <a:off x="838200" y="1625600"/>
            <a:ext cx="4706417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 install -e ".[dev]"           # ①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정의서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(pyproject)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기반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 install -r requirements.txt   # ②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목록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(requirements)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기반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pytest -q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40 passed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✅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 freeze &gt; requirements-lock.txt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fastapi==0.121.3      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전부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==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 박힌 스냅샷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pydantic==2.12.4 …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deactivate            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정리는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.venv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폴더 삭제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BB05D-8749-7B4C-6234-C378DF19DC71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(.venv)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안에서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두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OS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동일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8743DF-51C5-4048-6B18-C6A9C87EAFBF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071B6-5DF3-251C-BA06-8D57A3FCF7C5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-e = editable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소스를 고치면 재설치 없이 바로 반영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DC3245-B84F-B634-53C1-6E186C17A788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184B0-993F-5294-1561-45FFC06E2CA7}"/>
              </a:ext>
            </a:extLst>
          </p:cNvPr>
          <p:cNvSpPr txBox="1"/>
          <p:nvPr/>
        </p:nvSpPr>
        <p:spPr>
          <a:xfrm>
            <a:off x="6426200" y="154625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①은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앱은 무엇인가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레시피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), ②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정확히 이것들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장보기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— '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고정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범위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'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장의 그 구분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017998E-99D8-1E01-38EF-97B58A734B02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172E0-D0F1-1035-C568-186C45E9EA71}"/>
              </a:ext>
            </a:extLst>
          </p:cNvPr>
          <p:cNvSpPr txBox="1"/>
          <p:nvPr/>
        </p:nvSpPr>
        <p:spPr>
          <a:xfrm>
            <a:off x="6426200" y="202256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freeze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산출물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모든 버전 고정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(pinning)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누가 언제 설치해도 같은 조합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lock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개념이다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6236590-6911-8918-9AF5-F28A831AD622}"/>
              </a:ext>
            </a:extLst>
          </p:cNvPr>
          <p:cNvSpPr/>
          <p:nvPr/>
        </p:nvSpPr>
        <p:spPr>
          <a:xfrm>
            <a:off x="6248400" y="257507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A648D-4A03-7ABD-A30B-20AD2955D255}"/>
              </a:ext>
            </a:extLst>
          </p:cNvPr>
          <p:cNvSpPr txBox="1"/>
          <p:nvPr/>
        </p:nvSpPr>
        <p:spPr>
          <a:xfrm>
            <a:off x="6426200" y="249887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다음 실습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수동 단계들을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uv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한 줄로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36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A7F56A0-1A90-D397-D545-289640AC8B52}"/>
              </a:ext>
            </a:extLst>
          </p:cNvPr>
          <p:cNvSpPr/>
          <p:nvPr/>
        </p:nvSpPr>
        <p:spPr>
          <a:xfrm>
            <a:off x="711200" y="1270000"/>
            <a:ext cx="5232400" cy="2226171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882506-C6B3-B7D3-8D1D-A735DA980D3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DC883-3B1C-8921-350A-411153A0C536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uv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9A4F6-3E73-FDE1-961F-1FCF33E60858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uv sync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한 방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실측 데모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E50A7-D219-69D5-C363-3E4ACA059D59}"/>
              </a:ext>
            </a:extLst>
          </p:cNvPr>
          <p:cNvSpPr txBox="1"/>
          <p:nvPr/>
        </p:nvSpPr>
        <p:spPr>
          <a:xfrm>
            <a:off x="838200" y="1625600"/>
            <a:ext cx="2923877" cy="16927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$ uv sync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Using CPython 3.13.0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Creating virtual environment at: .venv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Resolved 27 packages in 347ms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Installed 1 package in 140ms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+ rock-paper-scissors-python==0.1.0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$ uv run python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당신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ROCK 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컴퓨터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SCISSORS -&gt; WIN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$ uv run pytest -q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40 passed in 0.06s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A2C04-46BA-C360-9A6E-672F90D12F67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이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PC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에서 실제 실행한 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1CE399A-47D7-F8DD-E910-BC37C2E973F6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5DEE5-6FAA-240A-307F-9F681CE9B531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winget install astral-sh.uv / brew install uv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이후 명령은 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동일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C02300-743F-42B4-6F53-FB7BE2B74CB6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335E8-3783-9066-9801-EF88BD6CB959}"/>
              </a:ext>
            </a:extLst>
          </p:cNvPr>
          <p:cNvSpPr txBox="1"/>
          <p:nvPr/>
        </p:nvSpPr>
        <p:spPr>
          <a:xfrm>
            <a:off x="6426200" y="17463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 줄이 랩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02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생성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활성화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스냅샷을 전부 대신한다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BED7F31-FFC8-F147-19B1-779429FE2EF3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D7D58-50B8-620F-BDCC-2EF146A818E7}"/>
              </a:ext>
            </a:extLst>
          </p:cNvPr>
          <p:cNvSpPr txBox="1"/>
          <p:nvPr/>
        </p:nvSpPr>
        <p:spPr>
          <a:xfrm>
            <a:off x="6426200" y="20225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uv run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활성화 없이 그 환경에서 실행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D41A2F4-AD22-9CBF-9CDC-E6C8450CB991}"/>
              </a:ext>
            </a:extLst>
          </p:cNvPr>
          <p:cNvSpPr/>
          <p:nvPr/>
        </p:nvSpPr>
        <p:spPr>
          <a:xfrm>
            <a:off x="6248400" y="23750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E65B7-9EDF-2422-A4DF-63EFB7AB80AF}"/>
              </a:ext>
            </a:extLst>
          </p:cNvPr>
          <p:cNvSpPr txBox="1"/>
          <p:nvPr/>
        </p:nvSpPr>
        <p:spPr>
          <a:xfrm>
            <a:off x="6426200" y="22988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왼쪽 출력은 연출이 아니라 이 저장소에서 실측한 그대로다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330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C1BE3E-C121-255E-CFF6-053589055ADB}"/>
              </a:ext>
            </a:extLst>
          </p:cNvPr>
          <p:cNvSpPr/>
          <p:nvPr/>
        </p:nvSpPr>
        <p:spPr>
          <a:xfrm>
            <a:off x="711200" y="1270000"/>
            <a:ext cx="5232400" cy="228246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A7B6DD-417D-5FEC-C95D-D9315C204BC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A169A-817F-7777-BAC3-DD38A2492D3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03 · uv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397DB-B816-0CCB-9E7F-6A7E6B769C5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잠금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(uv.lock)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과 일상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8436F-BADB-52FB-EF1D-FF64DC60222A}"/>
              </a:ext>
            </a:extLst>
          </p:cNvPr>
          <p:cNvSpPr txBox="1"/>
          <p:nvPr/>
        </p:nvSpPr>
        <p:spPr>
          <a:xfrm>
            <a:off x="838200" y="1625600"/>
            <a:ext cx="4616648" cy="174906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sync --extra web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선택 의존성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웹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까지 설치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add requests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추가 →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pyproject + uv.lock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자동 갱신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remove requests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제거도 짝으로</a:t>
            </a:r>
          </a:p>
          <a:p>
            <a:pPr>
              <a:lnSpc>
                <a:spcPct val="150000"/>
              </a:lnSpc>
            </a:pP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python list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설치 가능한 파이썬 목록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python install 3.12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파이썬 버전 설치도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가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venv --python 3.12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특정 버전으로 상자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223FA-12F1-F93B-8565-81DC46B45C5B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의존성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·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버전 관리도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uv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로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C9704BE-AC19-66CC-08A7-21966332EDBE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A620F-E644-BBAB-C595-3649A13F2C13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uv.lock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하위 의존성까지 정확히 잠근 재현 보장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랩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02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pip freeze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스냅샷의 자동판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3265A68-2F80-DA21-4916-2301D3581BBE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BF587-6F0F-FEDA-B96C-F21E5F06CFD8}"/>
              </a:ext>
            </a:extLst>
          </p:cNvPr>
          <p:cNvSpPr txBox="1"/>
          <p:nvPr/>
        </p:nvSpPr>
        <p:spPr>
          <a:xfrm>
            <a:off x="6426200" y="17463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lock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파일은 커밋 대상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팀 전체가 같은 조합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D9E2399-FBB4-8EAF-4EC9-B19E63361B85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CC456-0D54-8DA4-DE01-AB0A40A797DB}"/>
              </a:ext>
            </a:extLst>
          </p:cNvPr>
          <p:cNvSpPr txBox="1"/>
          <p:nvPr/>
        </p:nvSpPr>
        <p:spPr>
          <a:xfrm>
            <a:off x="6426200" y="202256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Rust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만든 통합 도구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버전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(①)·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환경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(②)·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(③)·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잠금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(④)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을 하나로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95798F1-AA60-A9B3-C4C6-EFDB84A4B0B3}"/>
              </a:ext>
            </a:extLst>
          </p:cNvPr>
          <p:cNvSpPr/>
          <p:nvPr/>
        </p:nvSpPr>
        <p:spPr>
          <a:xfrm>
            <a:off x="6248400" y="257507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E135F-FCB5-A31C-AF42-CE7F724772B2}"/>
              </a:ext>
            </a:extLst>
          </p:cNvPr>
          <p:cNvSpPr txBox="1"/>
          <p:nvPr/>
        </p:nvSpPr>
        <p:spPr>
          <a:xfrm>
            <a:off x="6426200" y="249887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정리는 여기도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.venv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삭제가 끝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9671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3FB71D9-CF1B-527D-31DB-481CFADB3A28}"/>
              </a:ext>
            </a:extLst>
          </p:cNvPr>
          <p:cNvSpPr/>
          <p:nvPr/>
        </p:nvSpPr>
        <p:spPr>
          <a:xfrm>
            <a:off x="711200" y="1270000"/>
            <a:ext cx="5232400" cy="228362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761DAB-D5A4-0C74-1A98-8FF1766FC2A2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D67C0-DFFA-05DB-7746-955B2FE8939F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poetry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36722-0F82-BAD1-D320-A5762371B83E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의존성 관리 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패키징 도구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2C7EC-0020-15FF-A287-8DDA7679E375}"/>
              </a:ext>
            </a:extLst>
          </p:cNvPr>
          <p:cNvSpPr txBox="1"/>
          <p:nvPr/>
        </p:nvSpPr>
        <p:spPr>
          <a:xfrm>
            <a:off x="838200" y="1625600"/>
            <a:ext cx="4078039" cy="17502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pipx install poetry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공용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CLI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pipx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</a:t>
            </a:r>
          </a:p>
          <a:p>
            <a:pPr>
              <a:lnSpc>
                <a:spcPct val="150000"/>
              </a:lnSpc>
            </a:pP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(macOS: brew install pipx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후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--version      # Poetry (version 2.x)</a:t>
            </a:r>
          </a:p>
          <a:p>
            <a:pPr>
              <a:lnSpc>
                <a:spcPct val="150000"/>
              </a:lnSpc>
            </a:pPr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install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환경 생성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+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설치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+ poetry.lock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run python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run pytest -q  # 40 passed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C73AF-8044-CD7F-3229-FEA6E4D219FE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설치 → 이 저장소 실행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BF4F04F-8575-15D1-AC44-FD37F86235E4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BEF81-AD35-8F85-57FD-5F843B70C17D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uv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이전부터 널리 쓰인 올인원 도구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환경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(②)·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(③)·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잠금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(④)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 더해 빌드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·PyPI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배포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(poetry build/publish)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까지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72DD944-FEDE-E274-1640-15B88CD9CC41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390DB-35B6-04BB-B9D1-14FB2C2B6CF9}"/>
              </a:ext>
            </a:extLst>
          </p:cNvPr>
          <p:cNvSpPr txBox="1"/>
          <p:nvPr/>
        </p:nvSpPr>
        <p:spPr>
          <a:xfrm>
            <a:off x="6426200" y="174631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poetry run = uv run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과 같은 개념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활성화 없이 실행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2E72519-97BE-ED9E-59E3-91939E07B597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4DDFB4-E6DF-2E9A-6157-0BB0B699D2C7}"/>
              </a:ext>
            </a:extLst>
          </p:cNvPr>
          <p:cNvSpPr txBox="1"/>
          <p:nvPr/>
        </p:nvSpPr>
        <p:spPr>
          <a:xfrm>
            <a:off x="6426200" y="202256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표준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[project]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형식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(pyproject)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Poetry 2.0+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 그대로 읽는다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저장소가 그 예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339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9EEBBD-6129-6241-BE30-E27C39620DEE}"/>
              </a:ext>
            </a:extLst>
          </p:cNvPr>
          <p:cNvSpPr/>
          <p:nvPr/>
        </p:nvSpPr>
        <p:spPr>
          <a:xfrm>
            <a:off x="711200" y="1270000"/>
            <a:ext cx="5232400" cy="228246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ED57D8-8991-0DBD-EDC3-D205034D1BEE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E9F12-7905-6A90-6B5A-F396D8AA8BB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04 · poetry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B5759-36ED-4593-7490-97BE82EFAD5C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새 프로젝트 흐름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캐럿과 틸데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7C834-9880-5F17-74BC-1173CEE6A818}"/>
              </a:ext>
            </a:extLst>
          </p:cNvPr>
          <p:cNvSpPr txBox="1"/>
          <p:nvPr/>
        </p:nvSpPr>
        <p:spPr>
          <a:xfrm>
            <a:off x="838200" y="1625600"/>
            <a:ext cx="4065215" cy="174906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new my-app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표준 구조 생성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cd my-app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add fastapi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의존성 추가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+ lock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갱신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pyproject: fastapi = "^0.110"  ←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캐럿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poetry add --group dev pytest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개발용 그룹</a:t>
            </a:r>
          </a:p>
          <a:p>
            <a:pPr>
              <a:lnSpc>
                <a:spcPct val="150000"/>
              </a:lnSpc>
            </a:pP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pipx uninstall poetry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실습 정리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4E751-4742-3EBE-19D3-FCBD27A61128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poetry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방식으로 시작한다면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A33D7-BE67-4313-86BB-F28BB7A7A002}"/>
              </a:ext>
            </a:extLst>
          </p:cNvPr>
          <p:cNvSpPr txBox="1"/>
          <p:nvPr/>
        </p:nvSpPr>
        <p:spPr>
          <a:xfrm>
            <a:off x="6248400" y="1270000"/>
            <a:ext cx="523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poetry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의 버전 표기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('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고정 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vs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범위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' </a:t>
            </a:r>
            <a:r>
              <a:rPr lang="ko-KR" altLang="en-US" sz="1200">
                <a:solidFill>
                  <a:srgbClr val="5B6270"/>
                </a:solidFill>
                <a:latin typeface="Segoe UI" panose="020B0502040204020203" pitchFamily="34" charset="0"/>
              </a:rPr>
              <a:t>장에 이어서</a:t>
            </a:r>
            <a:r>
              <a:rPr lang="en-US" altLang="ko-KR" sz="1200">
                <a:solidFill>
                  <a:srgbClr val="5B6270"/>
                </a:solidFill>
                <a:latin typeface="Segoe UI" panose="020B0502040204020203" pitchFamily="34" charset="0"/>
              </a:rPr>
              <a:t>)</a:t>
            </a:r>
            <a:endParaRPr lang="ko-KR" altLang="en-US" sz="120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72F9D8D-4C20-39B2-8170-A740767EB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476617"/>
              </p:ext>
            </p:extLst>
          </p:nvPr>
        </p:nvGraphicFramePr>
        <p:xfrm>
          <a:off x="6248400" y="1556266"/>
          <a:ext cx="52324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255173382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137817191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표기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의미</a:t>
                      </a: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8134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^1.2.3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캐럿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&gt;=1.2.3,&lt;2.0.0 (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메이저 고정 호환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294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~1.2.3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틸데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— &gt;=1.2.3,&lt;1.3.0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0234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1.2.3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정확히 고정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(==)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110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F99ABC-74F5-F493-5254-D3D382B3D103}"/>
              </a:ext>
            </a:extLst>
          </p:cNvPr>
          <p:cNvSpPr txBox="1"/>
          <p:nvPr/>
        </p:nvSpPr>
        <p:spPr>
          <a:xfrm>
            <a:off x="6248400" y="2826266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캐럿이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poetry add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의 기본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메이저가 안 바뀌는 선에서 최신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이라는 범위 전략이다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538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9AB000-8F25-7A61-F2BF-65E9466F94F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5A45E-50C2-5840-5A71-E95ECF1575E7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05 · conda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44A84-1277-1717-4397-362DD81F67D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여러분의 주력이 될 도구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FB6BD-4E42-4768-7D15-6128811325B0}"/>
              </a:ext>
            </a:extLst>
          </p:cNvPr>
          <p:cNvSpPr txBox="1"/>
          <p:nvPr/>
        </p:nvSpPr>
        <p:spPr>
          <a:xfrm>
            <a:off x="711200" y="1270000"/>
            <a:ext cx="10769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AI/ML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연구 환경에서는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PyTorch·CUDA·MKL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같은 네이티브 스택 때문에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conda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가 사실상 표준 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500">
                <a:solidFill>
                  <a:srgbClr val="23262D"/>
                </a:solidFill>
                <a:latin typeface="Segoe UI" panose="020B0502040204020203" pitchFamily="34" charset="0"/>
              </a:rPr>
              <a:t>연구실에서 가장 먼저 만나는 도구다</a:t>
            </a:r>
            <a:r>
              <a:rPr lang="en-US" altLang="ko-KR" sz="15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5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E00A58B-EBAC-4123-84A1-3D7214481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75730"/>
              </p:ext>
            </p:extLst>
          </p:nvPr>
        </p:nvGraphicFramePr>
        <p:xfrm>
          <a:off x="711200" y="1858665"/>
          <a:ext cx="10769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3349628987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3900070846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333511603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latinLnBrk="1"/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pip / uv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conda</a:t>
                      </a:r>
                      <a:endParaRPr lang="ko-KR" altLang="en-US" sz="11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23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8864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다루는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파이썬 패키지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파이썬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+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네이티브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(CUDA·MKL·C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라이브러리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0816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패키지 출처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PyPI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conda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채널 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(conda-forge 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등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15939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환경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폴더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(.venv)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이름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(conda env list)</a:t>
                      </a:r>
                      <a:endParaRPr lang="ko-KR" altLang="en-US" sz="1050" b="0">
                        <a:solidFill>
                          <a:srgbClr val="23262D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744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강한 분야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웹</a:t>
                      </a:r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일반 앱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AI/ML·</a:t>
                      </a:r>
                      <a:r>
                        <a:rPr lang="ko-KR" altLang="en-US" sz="1050" b="0">
                          <a:solidFill>
                            <a:srgbClr val="23262D"/>
                          </a:solidFill>
                          <a:latin typeface="Segoe UI" panose="020B0502040204020203" pitchFamily="34" charset="0"/>
                        </a:rPr>
                        <a:t>과학 계산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780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2014D7-4D21-456D-3F36-92E26B757800}"/>
              </a:ext>
            </a:extLst>
          </p:cNvPr>
          <p:cNvSpPr txBox="1"/>
          <p:nvPr/>
        </p:nvSpPr>
        <p:spPr>
          <a:xfrm>
            <a:off x="711200" y="3408065"/>
            <a:ext cx="1076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가위바위보는 일부러 작은 예제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여기서 익히는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create → activate → install → remove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흐름이 그대로 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GPU </a:t>
            </a:r>
            <a:r>
              <a:rPr lang="ko-KR" altLang="en-US" sz="1200">
                <a:solidFill>
                  <a:srgbClr val="23262D"/>
                </a:solidFill>
                <a:latin typeface="Segoe UI" panose="020B0502040204020203" pitchFamily="34" charset="0"/>
              </a:rPr>
              <a:t>환경 세팅으로 이어진다</a:t>
            </a:r>
            <a:r>
              <a:rPr lang="en-US" altLang="ko-KR" sz="12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2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03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F1A1BC-6A50-24E4-25EE-AEFA08F915D9}"/>
              </a:ext>
            </a:extLst>
          </p:cNvPr>
          <p:cNvSpPr/>
          <p:nvPr/>
        </p:nvSpPr>
        <p:spPr>
          <a:xfrm>
            <a:off x="711200" y="1270000"/>
            <a:ext cx="5232400" cy="2395448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14605B-6F87-2634-9BBA-437B310B24BC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44790-44B5-41A7-8861-C8D5CADF95E8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05 · conda</a:t>
            </a:r>
            <a:endParaRPr lang="ko-KR" altLang="en-US" sz="10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F3831-C6A0-4F1C-7EDC-ACA858B307FE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만들고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쓰고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통째로 지우기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FB169-C66F-AAB8-375C-50830D8C5143}"/>
              </a:ext>
            </a:extLst>
          </p:cNvPr>
          <p:cNvSpPr txBox="1"/>
          <p:nvPr/>
        </p:nvSpPr>
        <p:spPr>
          <a:xfrm>
            <a:off x="838200" y="1625600"/>
            <a:ext cx="4257576" cy="186204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Windows: Anaconda Prompt / macOS: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터미널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conda create -n rps python=3.11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이름으로 환경 생성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conda activate rps               # (rps)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표시</a:t>
            </a:r>
          </a:p>
          <a:p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 install -e .                 # conda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안에서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pip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도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OK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당신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ROCK 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컴퓨터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PAPER -&gt; LOSE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conda env list           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내 환경 목록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conda deactivate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conda remove -n rps --all        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통째로 정리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ACD1-FF83-07A9-DC67-8867325AE188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Miniconda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설치 후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명령은 두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OS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동일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AB8C0D0-361B-4ED3-8D4C-F7543D414E5A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E0CE1-EFE6-26C0-7646-F056BE1484AB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설치는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Miniconda(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최소판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권장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Windows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인스톨러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 macOS pkg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또는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brew install --cask miniconda.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121A13A-8A62-BF0A-ADEC-FB935C076CFF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064E4-5736-22BB-0F83-99663A7A7C69}"/>
              </a:ext>
            </a:extLst>
          </p:cNvPr>
          <p:cNvSpPr txBox="1"/>
          <p:nvPr/>
        </p:nvSpPr>
        <p:spPr>
          <a:xfrm>
            <a:off x="6426200" y="174631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원칙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conda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 있으면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conda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없는 것만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pip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으로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네이티브 의존성 충돌을 줄이는 관례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EFB2F3A-883F-B154-B01E-97965D84F08C}"/>
              </a:ext>
            </a:extLst>
          </p:cNvPr>
          <p:cNvSpPr/>
          <p:nvPr/>
        </p:nvSpPr>
        <p:spPr>
          <a:xfrm>
            <a:off x="6248400" y="22988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DF29AE-7C17-79A6-7623-24897008C112}"/>
              </a:ext>
            </a:extLst>
          </p:cNvPr>
          <p:cNvSpPr txBox="1"/>
          <p:nvPr/>
        </p:nvSpPr>
        <p:spPr>
          <a:xfrm>
            <a:off x="6426200" y="222262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GPU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세팅도 같은 흐름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: conda create -n torch python=3.11 → conda install pytorch pytorch-cuda …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CC65402-A951-6906-F001-D6774874AB2A}"/>
              </a:ext>
            </a:extLst>
          </p:cNvPr>
          <p:cNvSpPr/>
          <p:nvPr/>
        </p:nvSpPr>
        <p:spPr>
          <a:xfrm>
            <a:off x="6248400" y="277513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96AC3-DB21-1920-C2B0-6FA04F62C5DE}"/>
              </a:ext>
            </a:extLst>
          </p:cNvPr>
          <p:cNvSpPr txBox="1"/>
          <p:nvPr/>
        </p:nvSpPr>
        <p:spPr>
          <a:xfrm>
            <a:off x="6426200" y="269893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이름 기반이라 프로젝트 폴더 밖에서도 환경을 재사용할 수 있다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5709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8FA21C-712E-F062-B534-3A51A8C98416}"/>
              </a:ext>
            </a:extLst>
          </p:cNvPr>
          <p:cNvSpPr/>
          <p:nvPr/>
        </p:nvSpPr>
        <p:spPr>
          <a:xfrm>
            <a:off x="711200" y="1270000"/>
            <a:ext cx="5232400" cy="205689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5DF4CD-DF6D-CC2E-85D8-3A2BFC8F6721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CFCF4-3BA5-2F53-6861-D525AC4C4608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06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웹 서버 배포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69707-5913-94AB-6AE0-07F114FB33F1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개발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: uvicorn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으로 띄우고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불러본다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7A591-9618-5AA5-0E19-90FA27D48995}"/>
              </a:ext>
            </a:extLst>
          </p:cNvPr>
          <p:cNvSpPr txBox="1"/>
          <p:nvPr/>
        </p:nvSpPr>
        <p:spPr>
          <a:xfrm>
            <a:off x="838200" y="1625600"/>
            <a:ext cx="4154984" cy="1523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sync --extra web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run uvicorn rps.web:app --reload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INFO: Uvicorn running on http://127.0.0.1:8000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다른 터미널에서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curl "http://127.0.0.1:8000/api/play?h=rock"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{"player":"ROCK","computer":"ROCK","outcome":"DRAW"}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curl "…/api/play?h=lizard"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400 {"detail":"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알 수 없는 손 입력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'lizard'"}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3CB6E-C770-CB5E-A6DB-2A0110BC314C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실측 출력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— Windows·macOS 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동일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B00A289-CC59-970C-562D-D04AA6D6ADE6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65048D-813F-2DB3-D96B-779025E504C9}"/>
              </a:ext>
            </a:extLst>
          </p:cNvPr>
          <p:cNvSpPr txBox="1"/>
          <p:nvPr/>
        </p:nvSpPr>
        <p:spPr>
          <a:xfrm>
            <a:off x="6426200" y="127000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rps.web:app = "rps/web.py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app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객체를 띄워라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622E60-D2C8-902A-126C-3C842857305E}"/>
              </a:ext>
            </a:extLst>
          </p:cNvPr>
          <p:cNvSpPr/>
          <p:nvPr/>
        </p:nvSpPr>
        <p:spPr>
          <a:xfrm>
            <a:off x="6248400" y="162245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39D8E-94E9-1525-EAFD-C732618A4F8C}"/>
              </a:ext>
            </a:extLst>
          </p:cNvPr>
          <p:cNvSpPr txBox="1"/>
          <p:nvPr/>
        </p:nvSpPr>
        <p:spPr>
          <a:xfrm>
            <a:off x="6426200" y="1546255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프레임워크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(FastAPI) ≠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서버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(uvicorn) 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분리해 조합하는 게 파이썬 웹 문화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(Spring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내장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Tomcat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이 안에 숨어 있던 것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B823D3B-0EF9-FB4F-67EA-818A52C72C93}"/>
              </a:ext>
            </a:extLst>
          </p:cNvPr>
          <p:cNvSpPr/>
          <p:nvPr/>
        </p:nvSpPr>
        <p:spPr>
          <a:xfrm>
            <a:off x="6248400" y="209876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A8734-9B6A-B0F8-F933-E17643AFA92C}"/>
              </a:ext>
            </a:extLst>
          </p:cNvPr>
          <p:cNvSpPr txBox="1"/>
          <p:nvPr/>
        </p:nvSpPr>
        <p:spPr>
          <a:xfrm>
            <a:off x="6426200" y="202256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--reload 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코드 고치면 자동 재시작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3FCE14F-5E41-5990-BFE3-E57492BAB28A}"/>
              </a:ext>
            </a:extLst>
          </p:cNvPr>
          <p:cNvSpPr/>
          <p:nvPr/>
        </p:nvSpPr>
        <p:spPr>
          <a:xfrm>
            <a:off x="6248400" y="23750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DB5C3A-3F98-2625-7462-E42DE376C7D9}"/>
              </a:ext>
            </a:extLst>
          </p:cNvPr>
          <p:cNvSpPr txBox="1"/>
          <p:nvPr/>
        </p:nvSpPr>
        <p:spPr>
          <a:xfrm>
            <a:off x="6426200" y="229882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브라우저로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/docs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열면 자동 문서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(Swagger) — Pydantic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모델 덕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E5D7CD2-154D-238B-D6F9-5EA41FE24487}"/>
              </a:ext>
            </a:extLst>
          </p:cNvPr>
          <p:cNvSpPr/>
          <p:nvPr/>
        </p:nvSpPr>
        <p:spPr>
          <a:xfrm>
            <a:off x="6248400" y="2651275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5668D-3C97-BAAB-2AA1-2A80802532A9}"/>
              </a:ext>
            </a:extLst>
          </p:cNvPr>
          <p:cNvSpPr txBox="1"/>
          <p:nvPr/>
        </p:nvSpPr>
        <p:spPr>
          <a:xfrm>
            <a:off x="6426200" y="2575075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종료는 서버 터미널에서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Ctrl+C.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7329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2F8616-8BA0-61AD-2AE4-E868F3468E95}"/>
              </a:ext>
            </a:extLst>
          </p:cNvPr>
          <p:cNvSpPr/>
          <p:nvPr/>
        </p:nvSpPr>
        <p:spPr>
          <a:xfrm>
            <a:off x="711200" y="1270000"/>
            <a:ext cx="5232400" cy="2734002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70E647-E245-1F32-64D8-C39767C94317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F313B-27C6-DCF7-5626-28345E7AF621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실습 </a:t>
            </a:r>
            <a:r>
              <a:rPr lang="en-US" altLang="ko-KR" sz="1000">
                <a:solidFill>
                  <a:srgbClr val="5B6270"/>
                </a:solidFill>
                <a:latin typeface="Consolas" panose="020B0609020204030204" pitchFamily="49" charset="0"/>
              </a:rPr>
              <a:t>06 · </a:t>
            </a:r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웹 서버 배포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35BE6-CF8C-DEEC-9D80-FB7EB1ACCB0B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운영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: gunicorn —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어디서 돌리나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EDD73-FD5A-B509-8A2D-DEC5AF11EA18}"/>
              </a:ext>
            </a:extLst>
          </p:cNvPr>
          <p:cNvSpPr txBox="1"/>
          <p:nvPr/>
        </p:nvSpPr>
        <p:spPr>
          <a:xfrm>
            <a:off x="838200" y="1625600"/>
            <a:ext cx="4078039" cy="220060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macOS·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리눅스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—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워커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4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개로 바로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gunicorn -k uvicorn.workers.UvicornWorker \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    rps.web:app --workers 4</a:t>
            </a:r>
          </a:p>
          <a:p>
            <a:endParaRPr lang="en-US" altLang="ko-KR" sz="1100">
              <a:solidFill>
                <a:srgbClr val="2B2F38"/>
              </a:solidFill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Windows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에서 직접 실행하면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? (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실측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ModuleNotFoundError: No module named 'fcntl'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→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유닉스 전용 모듈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. WSL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Docker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로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FROM python:3.13-slim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WORKDIR /app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COPY . .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RUN pip install -e ".[web]"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CMD ["gunicorn","-k","uvicorn.workers.UvicornWorker",</a:t>
            </a:r>
          </a:p>
          <a:p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     "rps.web:app","--bind","0.0.0.0:8000"]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F1492-6BEC-4F58-4740-126EEC82A9F4}"/>
              </a:ext>
            </a:extLst>
          </p:cNvPr>
          <p:cNvSpPr txBox="1"/>
          <p:nvPr/>
        </p:nvSpPr>
        <p:spPr>
          <a:xfrm>
            <a:off x="838200" y="1320800"/>
            <a:ext cx="497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macOS·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리눅스는 그대로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/ Windows</a:t>
            </a:r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sz="900">
                <a:solidFill>
                  <a:srgbClr val="5B6270"/>
                </a:solidFill>
                <a:latin typeface="Consolas" panose="020B0609020204030204" pitchFamily="49" charset="0"/>
              </a:rPr>
              <a:t>WSL·Docker</a:t>
            </a:r>
            <a:endParaRPr lang="ko-KR" altLang="en-US" sz="900">
              <a:solidFill>
                <a:srgbClr val="5B627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EDC223F-51BD-A75B-568B-92FF45EE9F92}"/>
              </a:ext>
            </a:extLst>
          </p:cNvPr>
          <p:cNvSpPr/>
          <p:nvPr/>
        </p:nvSpPr>
        <p:spPr>
          <a:xfrm>
            <a:off x="6248400" y="134620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0D4D5-4B3F-E7EC-5A22-7B83E41555B8}"/>
              </a:ext>
            </a:extLst>
          </p:cNvPr>
          <p:cNvSpPr txBox="1"/>
          <p:nvPr/>
        </p:nvSpPr>
        <p:spPr>
          <a:xfrm>
            <a:off x="6426200" y="127000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운영은 워커 여러 개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=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동시 처리↑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+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한 워커가 죽어도 서비스 유지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(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장애 격리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52346E3-2913-357D-109E-F6BCEF3BE0AD}"/>
              </a:ext>
            </a:extLst>
          </p:cNvPr>
          <p:cNvSpPr/>
          <p:nvPr/>
        </p:nvSpPr>
        <p:spPr>
          <a:xfrm>
            <a:off x="6248400" y="182251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3516F0-F063-1B31-5104-7CF5154ABC99}"/>
              </a:ext>
            </a:extLst>
          </p:cNvPr>
          <p:cNvSpPr txBox="1"/>
          <p:nvPr/>
        </p:nvSpPr>
        <p:spPr>
          <a:xfrm>
            <a:off x="6426200" y="174631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gunicorn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은 유닉스용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01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장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같은 코드도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OS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에 따라 다르다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의 실전 사례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3B0F149-1F0E-6973-D428-B2B0600D8E36}"/>
              </a:ext>
            </a:extLst>
          </p:cNvPr>
          <p:cNvSpPr/>
          <p:nvPr/>
        </p:nvSpPr>
        <p:spPr>
          <a:xfrm>
            <a:off x="6248400" y="229882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085301-F0F0-2D25-4292-0457CE49FC7A}"/>
              </a:ext>
            </a:extLst>
          </p:cNvPr>
          <p:cNvSpPr txBox="1"/>
          <p:nvPr/>
        </p:nvSpPr>
        <p:spPr>
          <a:xfrm>
            <a:off x="6426200" y="2222620"/>
            <a:ext cx="5029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실제 배포는 대개 리눅스 컨테이너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—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그래서 개발도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WSL·Docker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 맞추는 흐름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3679E8F-DD17-EB4A-250E-5114C551BA40}"/>
              </a:ext>
            </a:extLst>
          </p:cNvPr>
          <p:cNvSpPr/>
          <p:nvPr/>
        </p:nvSpPr>
        <p:spPr>
          <a:xfrm>
            <a:off x="6248400" y="2775130"/>
            <a:ext cx="63500" cy="63500"/>
          </a:xfrm>
          <a:prstGeom prst="ellipse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2BB6D-2B41-A9ED-0433-F378E3A468E9}"/>
              </a:ext>
            </a:extLst>
          </p:cNvPr>
          <p:cNvSpPr txBox="1"/>
          <p:nvPr/>
        </p:nvSpPr>
        <p:spPr>
          <a:xfrm>
            <a:off x="6426200" y="2698930"/>
            <a:ext cx="502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Windows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로컬 개발은 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uvicorn(--workers 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가능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)</a:t>
            </a:r>
            <a:r>
              <a:rPr lang="ko-KR" altLang="en-US" sz="1300">
                <a:solidFill>
                  <a:srgbClr val="23262D"/>
                </a:solidFill>
                <a:latin typeface="Segoe UI" panose="020B0502040204020203" pitchFamily="34" charset="0"/>
              </a:rPr>
              <a:t>으로 충분</a:t>
            </a:r>
            <a:r>
              <a:rPr lang="en-US" altLang="ko-KR" sz="13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3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954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3908BE-8A90-D61F-DF2A-F06CF391E8AC}"/>
              </a:ext>
            </a:extLst>
          </p:cNvPr>
          <p:cNvSpPr/>
          <p:nvPr/>
        </p:nvSpPr>
        <p:spPr>
          <a:xfrm>
            <a:off x="711200" y="2286000"/>
            <a:ext cx="7874000" cy="1774637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D7DA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51918D-184C-843E-6891-A90899A8A269}"/>
              </a:ext>
            </a:extLst>
          </p:cNvPr>
          <p:cNvSpPr/>
          <p:nvPr/>
        </p:nvSpPr>
        <p:spPr>
          <a:xfrm>
            <a:off x="711200" y="431800"/>
            <a:ext cx="279400" cy="38100"/>
          </a:xfrm>
          <a:prstGeom prst="rect">
            <a:avLst/>
          </a:prstGeom>
          <a:solidFill>
            <a:srgbClr val="E56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A213F-D9A4-E9EB-752F-3AB934497743}"/>
              </a:ext>
            </a:extLst>
          </p:cNvPr>
          <p:cNvSpPr txBox="1"/>
          <p:nvPr/>
        </p:nvSpPr>
        <p:spPr>
          <a:xfrm>
            <a:off x="1092200" y="3429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5B6270"/>
                </a:solidFill>
                <a:latin typeface="Consolas" panose="020B0609020204030204" pitchFamily="49" charset="0"/>
              </a:rPr>
              <a:t>마무리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D3B09-2C2B-3F5B-1D0A-8D20302A8DBD}"/>
              </a:ext>
            </a:extLst>
          </p:cNvPr>
          <p:cNvSpPr txBox="1"/>
          <p:nvPr/>
        </p:nvSpPr>
        <p:spPr>
          <a:xfrm>
            <a:off x="711200" y="635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이제</a:t>
            </a:r>
            <a:r>
              <a:rPr lang="en-US" altLang="ko-KR" sz="2400" b="1">
                <a:solidFill>
                  <a:srgbClr val="23262D"/>
                </a:solidFill>
                <a:latin typeface="Segoe UI" panose="020B0502040204020203" pitchFamily="34" charset="0"/>
              </a:rPr>
              <a:t>, </a:t>
            </a:r>
            <a:r>
              <a:rPr lang="ko-KR" altLang="en-US" sz="2400" b="1">
                <a:solidFill>
                  <a:srgbClr val="23262D"/>
                </a:solidFill>
                <a:latin typeface="Segoe UI" panose="020B0502040204020203" pitchFamily="34" charset="0"/>
              </a:rPr>
              <a:t>직접 만들 차례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A463D-DB80-3362-2799-A38C5C303DA5}"/>
              </a:ext>
            </a:extLst>
          </p:cNvPr>
          <p:cNvSpPr txBox="1"/>
          <p:nvPr/>
        </p:nvSpPr>
        <p:spPr>
          <a:xfrm>
            <a:off x="711200" y="12700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같은 판정식 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(player - computer + 3) % 3 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이 언어마다 다른 무게를 입는 것을 봤다 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— Java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의 계층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, C++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의 소유권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, Python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의 한 파일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이 저장소는 그 차이를 손으로 확인하는 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"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진짜 만들어 보기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" </a:t>
            </a:r>
            <a:r>
              <a:rPr lang="ko-KR" altLang="en-US" sz="1400">
                <a:solidFill>
                  <a:srgbClr val="23262D"/>
                </a:solidFill>
                <a:latin typeface="Segoe UI" panose="020B0502040204020203" pitchFamily="34" charset="0"/>
              </a:rPr>
              <a:t>예제다</a:t>
            </a:r>
            <a:r>
              <a:rPr lang="en-US" altLang="ko-KR" sz="1400">
                <a:solidFill>
                  <a:srgbClr val="23262D"/>
                </a:solidFill>
                <a:latin typeface="Segoe UI" panose="020B0502040204020203" pitchFamily="34" charset="0"/>
              </a:rPr>
              <a:t>.</a:t>
            </a:r>
            <a:endParaRPr lang="ko-KR" altLang="en-US" sz="1400">
              <a:solidFill>
                <a:srgbClr val="23262D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4FB24-5A84-A4E7-C791-39C1A59C1877}"/>
              </a:ext>
            </a:extLst>
          </p:cNvPr>
          <p:cNvSpPr txBox="1"/>
          <p:nvPr/>
        </p:nvSpPr>
        <p:spPr>
          <a:xfrm>
            <a:off x="838200" y="2641600"/>
            <a:ext cx="4847481" cy="12412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git clone https://github.com/yscha88/rock-paper-scissors-python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cd rock-paper-scissors-python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sync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uv run python -m rps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바위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# -&gt;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당신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ROCK / </a:t>
            </a:r>
            <a:r>
              <a:rPr lang="ko-KR" altLang="en-US" sz="1100">
                <a:solidFill>
                  <a:srgbClr val="2B2F38"/>
                </a:solidFill>
                <a:latin typeface="Consolas" panose="020B0609020204030204" pitchFamily="49" charset="0"/>
              </a:rPr>
              <a:t>컴퓨터</a:t>
            </a:r>
            <a:r>
              <a:rPr lang="en-US" altLang="ko-KR" sz="1100">
                <a:solidFill>
                  <a:srgbClr val="2B2F38"/>
                </a:solidFill>
                <a:latin typeface="Consolas" panose="020B0609020204030204" pitchFamily="49" charset="0"/>
              </a:rPr>
              <a:t>: SCISSORS -&gt; WIN</a:t>
            </a:r>
            <a:endParaRPr lang="ko-KR" altLang="en-US" sz="1100">
              <a:solidFill>
                <a:srgbClr val="2B2F38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88B22-D02B-A07E-86AB-992AAE74CDB1}"/>
              </a:ext>
            </a:extLst>
          </p:cNvPr>
          <p:cNvSpPr txBox="1"/>
          <p:nvPr/>
        </p:nvSpPr>
        <p:spPr>
          <a:xfrm>
            <a:off x="838200" y="2336800"/>
            <a:ext cx="762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5B6270"/>
                </a:solidFill>
                <a:latin typeface="Consolas" panose="020B0609020204030204" pitchFamily="49" charset="0"/>
              </a:rPr>
              <a:t>지금 시작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42D2-78A0-6645-268A-7B17EFDC41D3}"/>
              </a:ext>
            </a:extLst>
          </p:cNvPr>
          <p:cNvSpPr txBox="1"/>
          <p:nvPr/>
        </p:nvSpPr>
        <p:spPr>
          <a:xfrm>
            <a:off x="711200" y="4191000"/>
            <a:ext cx="1066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이어서 해볼 것 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— ① _ALIASES</a:t>
            </a:r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에 새 언어 별칭 추가  ② 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uv run pytest </a:t>
            </a:r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로 확인  ③ 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rps.web </a:t>
            </a:r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을 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API</a:t>
            </a:r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로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. </a:t>
            </a:r>
            <a:r>
              <a:rPr lang="ko-KR" altLang="en-US" sz="1250">
                <a:solidFill>
                  <a:srgbClr val="5B6270"/>
                </a:solidFill>
                <a:latin typeface="Segoe UI" panose="020B0502040204020203" pitchFamily="34" charset="0"/>
              </a:rPr>
              <a:t>고치고 확인하는 것까지가 실습이다</a:t>
            </a:r>
            <a:r>
              <a:rPr lang="en-US" altLang="ko-KR" sz="1250">
                <a:solidFill>
                  <a:srgbClr val="5B6270"/>
                </a:solidFill>
                <a:latin typeface="Segoe UI" panose="020B0502040204020203" pitchFamily="34" charset="0"/>
              </a:rPr>
              <a:t>.</a:t>
            </a:r>
            <a:endParaRPr lang="ko-KR" altLang="en-US" sz="1250">
              <a:solidFill>
                <a:srgbClr val="5B627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68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10106</Words>
  <Application>Microsoft Office PowerPoint</Application>
  <PresentationFormat>사용자 지정</PresentationFormat>
  <Paragraphs>1140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0" baseType="lpstr">
      <vt:lpstr>맑은 고딕</vt:lpstr>
      <vt:lpstr>Arial</vt:lpstr>
      <vt:lpstr>Consolas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 Yoseph(차요셉)</dc:creator>
  <cp:lastModifiedBy>Cha Yoseph(차요셉)</cp:lastModifiedBy>
  <cp:revision>1</cp:revision>
  <dcterms:created xsi:type="dcterms:W3CDTF">2026-07-24T05:32:50Z</dcterms:created>
  <dcterms:modified xsi:type="dcterms:W3CDTF">2026-07-24T05:32:50Z</dcterms:modified>
</cp:coreProperties>
</file>